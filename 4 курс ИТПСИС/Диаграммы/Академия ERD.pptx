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400" r:id="rId3"/>
    <p:sldId id="257" r:id="rId4"/>
    <p:sldId id="267" r:id="rId5"/>
    <p:sldId id="264" r:id="rId6"/>
    <p:sldId id="265" r:id="rId7"/>
    <p:sldId id="258" r:id="rId8"/>
    <p:sldId id="259" r:id="rId9"/>
    <p:sldId id="260" r:id="rId10"/>
    <p:sldId id="261" r:id="rId11"/>
    <p:sldId id="262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6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D7D100B-0C75-421B-98EA-ADB0539B352D}">
          <p14:sldIdLst>
            <p14:sldId id="256"/>
          </p14:sldIdLst>
        </p14:section>
        <p14:section name="Intro" id="{4BB69AB4-6E0A-468B-BC25-C38F6704B5E6}">
          <p14:sldIdLst>
            <p14:sldId id="400"/>
            <p14:sldId id="257"/>
            <p14:sldId id="267"/>
            <p14:sldId id="264"/>
            <p14:sldId id="265"/>
          </p14:sldIdLst>
        </p14:section>
        <p14:section name="ERD" id="{2B5F8273-7CCE-4E40-9F24-7516789559B3}">
          <p14:sldIdLst>
            <p14:sldId id="258"/>
            <p14:sldId id="259"/>
            <p14:sldId id="260"/>
            <p14:sldId id="261"/>
            <p14:sldId id="262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52" autoAdjust="0"/>
    <p:restoredTop sz="81680"/>
  </p:normalViewPr>
  <p:slideViewPr>
    <p:cSldViewPr snapToGrid="0" showGuides="1">
      <p:cViewPr varScale="1">
        <p:scale>
          <a:sx n="102" d="100"/>
          <a:sy n="102" d="100"/>
        </p:scale>
        <p:origin x="984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68E16-5F2A-4754-86A1-55538CDB63C2}" type="datetimeFigureOut">
              <a:rPr lang="en-US" smtClean="0"/>
              <a:t>7/2/21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11B69C-2E0A-43A1-B44C-9A0083BF8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009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Нормализация — это процесс организации данных в базе данных, включающий создание таблиц и установление отношений между ними в соответствии с правилами, которые обеспечивают защиту данных и делают базу данных </a:t>
            </a:r>
            <a:r>
              <a:rPr lang="ru-RU" sz="12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более гибкой, устраняя избыточность и несогласованные зависимости</a:t>
            </a:r>
            <a:r>
              <a:rPr lang="ru-RU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121" name="Google Shape;12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ru-RU"/>
              <a:t>Представьте, что на собеседовании у вас спрашивают, обладаете ли вы навыком прорицания. Вы обращаетесь к полю со списком навыков и начинаете перечислять все, что там есть: ходить, чистить зубы, готовить завтрак, читать, писать, стоять на голове, водить машину и т.д., потому что всю жизнь просто добавляли эти навыки через запятую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Если вам хочется назвать столбец во множественном числе – это уже сигнальчик</a:t>
            </a:r>
            <a:endParaRPr/>
          </a:p>
        </p:txBody>
      </p:sp>
      <p:sp>
        <p:nvSpPr>
          <p:cNvPr id="128" name="Google Shape;12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Сложно привести жизненный пример с составным первичным ключом.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Все мои командировки можно идентифицировать городом и месяцем в каждом году. Например, если бы я стала перечислять, куда я съездила в течение года следующим образом:</a:t>
            </a:r>
            <a:endParaRPr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ru-RU" dirty="0"/>
              <a:t>В марте 2018 года я прилетела в Москву во Внуково</a:t>
            </a:r>
            <a:endParaRPr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ru-RU" dirty="0"/>
              <a:t>В апреле 2018 года я прилетела в Питер в Пулково</a:t>
            </a:r>
            <a:endParaRPr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ru-RU" dirty="0"/>
              <a:t>В апреле 2018 года я прилетела в Москву во Внуково</a:t>
            </a:r>
            <a:endParaRPr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ru-RU" dirty="0"/>
              <a:t>В июне 2018 года я прилетела в Москву во Внуково</a:t>
            </a:r>
            <a:endParaRPr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ru-RU" dirty="0"/>
              <a:t>В июле 2018 года я прилетела в Москву во Внуково</a:t>
            </a:r>
            <a:endParaRPr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ru-RU" dirty="0"/>
              <a:t>В августе 2018 года я прилетела в Москву во Внуково</a:t>
            </a:r>
            <a:endParaRPr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ru-RU" dirty="0"/>
              <a:t>В феврале 2019 года я прилетела в Томск в Богашево</a:t>
            </a:r>
            <a:endParaRPr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ru-RU" dirty="0"/>
              <a:t>В сентябре 2019 года я прилетела в Москву во Внуково</a:t>
            </a:r>
            <a:endParaRPr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ru-RU" dirty="0"/>
              <a:t>В октябре 2019 года в прилетела в Томск в Богашево</a:t>
            </a:r>
            <a:endParaRPr dirty="0"/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147" name="Google Shape;147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ru-RU" i="1"/>
              <a:t>Здесь сложно накосячить, так как большинство использует искусственный первичный ключ с автоинкрементом</a:t>
            </a:r>
            <a:endParaRPr i="1"/>
          </a:p>
        </p:txBody>
      </p:sp>
      <p:sp>
        <p:nvSpPr>
          <p:cNvPr id="160" name="Google Shape;16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ru-RU"/>
              <a:t>Представьте, что вы рассказываете историю: на днях видел Мишу, с которым мы познакомились на лекции по базам данных в прошлом году и который умеет играть на гитаре, так вот он сказал, что Ваня, с которым мы познакомились в отпуске и который умеет ловить рыбу, приезжает через неделю в наш город по работе. Миша, с которым мы познакомились на лекции по базам данных в прошлом году и который умеет играть на гитаре, собирается встретить Ваню, с которым мы познакомились в отпуске и который умеет ловить рыбу, в аэропорту.</a:t>
            </a:r>
            <a:endParaRPr/>
          </a:p>
        </p:txBody>
      </p:sp>
      <p:sp>
        <p:nvSpPr>
          <p:cNvPr id="170" name="Google Shape;170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BCB86-4D78-46C8-987E-3BAC16A01D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5D0236-FCFA-49ED-B323-0AB29846ED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F85B2-1349-44DF-A567-F9E9CF852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32878-D85C-45CE-85AB-91A3711D73DE}" type="datetimeFigureOut">
              <a:rPr lang="en-US" smtClean="0"/>
              <a:t>7/2/21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B3223-E63B-4AF0-880C-A5CD8830C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6DAFC-D643-4461-B6BF-FEFE1C7F2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B97BB-CD00-46E0-AE23-0E38E7C62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855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47E74-0BF1-4A0F-A5DD-790EAF1F7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55CD7-3636-435E-8A4D-9FB0799A0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BEDE61-2304-46DB-B28F-93AC2E082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32878-D85C-45CE-85AB-91A3711D73DE}" type="datetimeFigureOut">
              <a:rPr lang="en-US" smtClean="0"/>
              <a:t>7/2/21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0ACFF-7A11-440B-A3A1-0656529E9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9E343-96ED-4BCB-AB5B-91224CA86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B97BB-CD00-46E0-AE23-0E38E7C62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392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B14EC-61B3-4DC4-BF68-3D522E43F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D20506-7143-488F-BFBB-DC18B8E863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FC8E3-C8DC-4428-A613-D31E936DA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32878-D85C-45CE-85AB-91A3711D73DE}" type="datetimeFigureOut">
              <a:rPr lang="en-US" smtClean="0"/>
              <a:t>7/2/21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DD701-87F5-44EE-94BD-37E4DD674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81F27-3F85-40FC-91D2-2544AA686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B97BB-CD00-46E0-AE23-0E38E7C62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133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7FA7F-1019-4226-8762-298E6FB01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FAEE6-B03F-48C5-9C46-71ABD6E3E8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FE1FCA-3716-43B5-9235-4582DD451F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821859-42B1-46AD-BCF0-ADF94094D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32878-D85C-45CE-85AB-91A3711D73DE}" type="datetimeFigureOut">
              <a:rPr lang="en-US" smtClean="0"/>
              <a:t>7/2/21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7AC17-3A9B-4504-93E9-B21943322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2DA0DB-8F29-4D63-B8DC-93889B0BB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B97BB-CD00-46E0-AE23-0E38E7C62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423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4A00C-2C97-43DF-BFD7-9FD521E8D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03D295-1604-4687-A31E-7E67620E8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DF4555-B0C0-472F-A38E-DF5C05C488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AC4057-A2D9-489C-9922-1C0CBFBFCE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31F6CA-01DB-43AE-B696-383C202C8D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CEEB8B-A1C0-4542-BEE2-E7E683941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32878-D85C-45CE-85AB-91A3711D73DE}" type="datetimeFigureOut">
              <a:rPr lang="en-US" smtClean="0"/>
              <a:t>7/2/21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A6D3C7-19BB-491D-93C0-F1CF87CE9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5DD68A-5F69-4E0D-9AB2-7B5C73EEB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B97BB-CD00-46E0-AE23-0E38E7C62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010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51F4C-77A2-4AE3-9AD3-57AEC3C88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8A8855-79DE-46CC-BE85-7B34948E2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32878-D85C-45CE-85AB-91A3711D73DE}" type="datetimeFigureOut">
              <a:rPr lang="en-US" smtClean="0"/>
              <a:t>7/2/21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316D0C-2B8C-492C-9005-FEA557218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1209F9-A92F-40CD-B293-9EA3369C1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B97BB-CD00-46E0-AE23-0E38E7C62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245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D7143E-BB8B-43E9-A5C8-9C363D533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32878-D85C-45CE-85AB-91A3711D73DE}" type="datetimeFigureOut">
              <a:rPr lang="en-US" smtClean="0"/>
              <a:t>7/2/21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8B81B4-82CD-46E3-B682-61A514D14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5268F-90A2-4548-A23B-AD52373FD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B97BB-CD00-46E0-AE23-0E38E7C62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551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4C536-6916-413E-A5CF-22E6B1677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ED11C-6D89-4C54-9BA3-C367FA8BA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155D28-891D-445A-B770-3AEDEF78C3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267571-1234-4629-B5D4-E66125398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32878-D85C-45CE-85AB-91A3711D73DE}" type="datetimeFigureOut">
              <a:rPr lang="en-US" smtClean="0"/>
              <a:t>7/2/21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A015-2D81-4EA7-B821-0C8C51177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E6204-420E-46B3-BABC-CF090CD2A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B97BB-CD00-46E0-AE23-0E38E7C62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781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F5EA5-47A4-48D3-9941-3A7008FDC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1A26C8-B781-4F50-B60E-1C501B0D42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98823-AAB4-40F2-A920-E52AECD43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34DA5E-8D4F-4B2A-87FB-50ED4BC0C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32878-D85C-45CE-85AB-91A3711D73DE}" type="datetimeFigureOut">
              <a:rPr lang="en-US" smtClean="0"/>
              <a:t>7/2/21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3D61D4-A602-4CC3-A6FB-E6682408A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87F881-9413-48E3-AF5D-F5D9EE3CE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B97BB-CD00-46E0-AE23-0E38E7C62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368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0B886-60AF-4CB4-9EE0-6A5F7C325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1D9F0F-AAEF-4187-B1FC-10E2194A19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69F0A-2F46-4CAE-B031-7DE40B6E1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32878-D85C-45CE-85AB-91A3711D73DE}" type="datetimeFigureOut">
              <a:rPr lang="en-US" smtClean="0"/>
              <a:t>7/2/21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E171F-31AA-475C-B001-B3D2AB31D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98416-4847-495C-B43E-35CD681B9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B97BB-CD00-46E0-AE23-0E38E7C62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166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C3A75E-481F-45F8-BC86-E2229AAA1F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DCFDA5-D484-4850-BE76-7AD4E6E2CB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406D5-4871-4F1E-B55E-B866130D2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32878-D85C-45CE-85AB-91A3711D73DE}" type="datetimeFigureOut">
              <a:rPr lang="en-US" smtClean="0"/>
              <a:t>7/2/21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D8FA3-27CD-42B5-BD84-3C3EA722E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9BCC43-38AF-40FD-8716-A20FFFE23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B97BB-CD00-46E0-AE23-0E38E7C62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888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581A26-86F4-42B3-8443-BDE1ADF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EE97FB-AD01-4F64-AB20-01FED30FB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475F1-446D-4104-B897-0D4060870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C32878-D85C-45CE-85AB-91A3711D73DE}" type="datetimeFigureOut">
              <a:rPr lang="en-US" smtClean="0"/>
              <a:t>7/2/21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2AB01-69FF-435A-937E-01CEB44364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B74BA-6612-4FFA-8AFA-F964ED1F4C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B97BB-CD00-46E0-AE23-0E38E7C62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432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7FD7C-A4A7-47CF-A757-2C95CCFF55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Проектирование и разработка баз данных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D4A050-CF74-4DC6-BB47-91381E8569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Анна Дербенева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382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EFD5C-C20A-480E-BA78-DB2CD7142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162E1-6B92-44A7-BE06-E8EDE7C7E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  <a:p>
            <a:r>
              <a:rPr lang="en-US" dirty="0"/>
              <a:t>ER-</a:t>
            </a:r>
            <a:r>
              <a:rPr lang="ru-RU" dirty="0"/>
              <a:t>диаграмма</a:t>
            </a:r>
          </a:p>
          <a:p>
            <a:r>
              <a:rPr lang="ru-RU" dirty="0"/>
              <a:t>База данных</a:t>
            </a:r>
          </a:p>
          <a:p>
            <a:r>
              <a:rPr lang="ru-RU" dirty="0"/>
              <a:t>Запросы</a:t>
            </a:r>
          </a:p>
          <a:p>
            <a:pPr lvl="1"/>
            <a:r>
              <a:rPr lang="en-US" dirty="0"/>
              <a:t>DDL</a:t>
            </a:r>
          </a:p>
          <a:p>
            <a:pPr lvl="1"/>
            <a:r>
              <a:rPr lang="en-US" dirty="0"/>
              <a:t>DML</a:t>
            </a:r>
          </a:p>
          <a:p>
            <a:r>
              <a:rPr lang="ru-RU" dirty="0"/>
              <a:t>Объекты баз данных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410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8E923-9F13-4FF8-A7A4-9FA0667B2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</p:spPr>
        <p:txBody>
          <a:bodyPr>
            <a:norm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4000" b="0" i="0" u="none" strike="noStrike" dirty="0">
                <a:effectLst/>
                <a:latin typeface="Calibri" panose="020F0502020204030204" pitchFamily="34" charset="0"/>
              </a:rPr>
              <a:t>Базы данных</a:t>
            </a:r>
            <a:endParaRPr lang="en-US" sz="4000" dirty="0"/>
          </a:p>
        </p:txBody>
      </p:sp>
      <p:sp>
        <p:nvSpPr>
          <p:cNvPr id="1030" name="Content Placeholder 1029">
            <a:extLst>
              <a:ext uri="{FF2B5EF4-FFF2-40B4-BE49-F238E27FC236}">
                <a16:creationId xmlns:a16="http://schemas.microsoft.com/office/drawing/2014/main" id="{059140A5-956E-419D-929A-2C322CC11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52774" cy="4667250"/>
          </a:xfrm>
        </p:spPr>
        <p:txBody>
          <a:bodyPr>
            <a:norm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Любая БД является частью той или иной информационной системы и предназначена для </a:t>
            </a:r>
            <a:r>
              <a:rPr lang="ru-RU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сбора</a:t>
            </a:r>
            <a:r>
              <a:rPr lang="ru-RU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ru-RU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хранения и манипулирования информацией</a:t>
            </a:r>
            <a:r>
              <a:rPr lang="ru-RU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 </a:t>
            </a:r>
            <a:endParaRPr lang="ru-RU" sz="1800" b="0" dirty="0">
              <a:effectLst/>
            </a:endParaRPr>
          </a:p>
          <a:p>
            <a:r>
              <a:rPr lang="ru-RU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Важно отметить, что данные в БД хранятся </a:t>
            </a:r>
            <a:r>
              <a:rPr lang="ru-RU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в строгом порядке</a:t>
            </a:r>
            <a:r>
              <a:rPr lang="ru-RU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  <a:endParaRPr lang="en-US" sz="24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1026" name="Picture 2" descr="Истинные и ложные пары. Являются ли истинной парой понятия Порядок ...">
            <a:extLst>
              <a:ext uri="{FF2B5EF4-FFF2-40B4-BE49-F238E27FC236}">
                <a16:creationId xmlns:a16="http://schemas.microsoft.com/office/drawing/2014/main" id="{2A415433-ABB0-4F53-85F3-8A5A80F66C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8" r="-1617" b="2"/>
          <a:stretch/>
        </p:blipFill>
        <p:spPr bwMode="auto">
          <a:xfrm>
            <a:off x="4677102" y="1186297"/>
            <a:ext cx="7608203" cy="4152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0828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6D45D-3388-44C5-BDC4-FB5106AD2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dirty="0"/>
              <a:t>Архитектура «клиент-сервер»</a:t>
            </a:r>
            <a:endParaRPr lang="en-US" dirty="0"/>
          </a:p>
        </p:txBody>
      </p:sp>
      <p:pic>
        <p:nvPicPr>
          <p:cNvPr id="5" name="Рисунок 5" descr="Архитектура &quot;клиент – сервер&quot;">
            <a:extLst>
              <a:ext uri="{FF2B5EF4-FFF2-40B4-BE49-F238E27FC236}">
                <a16:creationId xmlns:a16="http://schemas.microsoft.com/office/drawing/2014/main" id="{94BE7B3D-FE81-45E1-B1D6-835F0C7B4E7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43262" y="1967706"/>
            <a:ext cx="5705475" cy="406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1106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DF960-096F-4BB7-A539-65B56FC2E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База данных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0BC18-96AF-4E0A-935C-C59F6FB10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</a:rPr>
              <a:t>БД, DB (</a:t>
            </a:r>
            <a:r>
              <a:rPr lang="ru-RU" b="0" i="1" dirty="0">
                <a:solidFill>
                  <a:srgbClr val="000000"/>
                </a:solidFill>
                <a:effectLst/>
              </a:rPr>
              <a:t>Database</a:t>
            </a:r>
            <a:r>
              <a:rPr lang="ru-RU" b="0" i="0" dirty="0">
                <a:solidFill>
                  <a:srgbClr val="000000"/>
                </a:solidFill>
                <a:effectLst/>
              </a:rPr>
              <a:t>). Организованная структура, предназначенная для хранения, изменения и обработки взаимосвязанной информации, преимущественно больших объемов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</a:rPr>
              <a:t>База данных позволяет хранить большое количество информации в одном месте. Качественно спроектированная база станет опорой для дальнейшей работы с данными, а кроме того, значительно облегчит ваш труд.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</a:rPr>
              <a:t>При этом, вся информация не хранится в каком-то обобщенном виде, а разбивается на таблицы, каждая из которых отвечает за определенный объект предметной области. Чем больше данные обособляются в таблицы, тем выше вероятность избежать дублирования информации и захламления базы данных, а также сокращает время и ресурсы на поиск необходимых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638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F68B2-A47E-4E99-AAAF-FC8F5A173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СУБД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50525-13E6-445C-8585-B06AF6732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OpinionPro"/>
              </a:rPr>
              <a:t>СУБД, </a:t>
            </a:r>
            <a:r>
              <a:rPr lang="ru-RU" b="0" i="1" dirty="0">
                <a:solidFill>
                  <a:srgbClr val="000000"/>
                </a:solidFill>
                <a:effectLst/>
                <a:latin typeface="OpinionPro"/>
              </a:rPr>
              <a:t>Database Management System</a:t>
            </a:r>
            <a:r>
              <a:rPr lang="ru-RU" b="0" i="0" dirty="0">
                <a:solidFill>
                  <a:srgbClr val="000000"/>
                </a:solidFill>
                <a:effectLst/>
                <a:latin typeface="OpinionPro"/>
              </a:rPr>
              <a:t>. Ком­плекс про­грамм, по­зво­ляю­щих соз­дать ба­зу дан­ных (БД) и ма­ни­пу­ли­ро­вать дан­ны­ми (встав­лять, об­нов­лять, уда­лять и вы­би­рать)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199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A76DC-69B5-4B55-BE64-BA2346388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ts val="0"/>
              </a:spcBef>
            </a:pPr>
            <a:r>
              <a:rPr lang="en-US" dirty="0"/>
              <a:t>ER-</a:t>
            </a:r>
            <a:r>
              <a:rPr lang="ru-RU" sz="4000" dirty="0">
                <a:latin typeface="Calibri" panose="020F0502020204030204" pitchFamily="34" charset="0"/>
              </a:rPr>
              <a:t>диаграммы (диаграммы сущность-связь)</a:t>
            </a:r>
            <a:endParaRPr lang="en-US" sz="4000" dirty="0">
              <a:latin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DC347-8067-4429-8FBE-1D38EF7E7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OpinionPro"/>
              </a:rPr>
              <a:t>Entity-Relationship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00000"/>
                </a:solidFill>
                <a:effectLst/>
                <a:latin typeface="OpinionPro"/>
              </a:rPr>
              <a:t>В основе ER-диаграмм лежит принцип «рисунок нагляднее текста»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00000"/>
                </a:solidFill>
                <a:effectLst/>
                <a:latin typeface="OpinionPro"/>
              </a:rPr>
              <a:t>ER-диаграмма графически представляет сущности (entities) предметной области, свойства (attributes) сущностей и связи (relationship) между ними</a:t>
            </a:r>
          </a:p>
        </p:txBody>
      </p:sp>
    </p:spTree>
    <p:extLst>
      <p:ext uri="{BB962C8B-B14F-4D97-AF65-F5344CB8AC3E}">
        <p14:creationId xmlns:p14="http://schemas.microsoft.com/office/powerpoint/2010/main" val="3907282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A7C4E-545C-4E22-853A-131B22043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Основные шаги построения ER-диаграммы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6C658-77C9-4B32-8ED9-8B6190784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Цель и область применения: </a:t>
            </a:r>
            <a:r>
              <a:rPr lang="ru-RU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Определите цель и область применения для анализа и моделирования.</a:t>
            </a:r>
            <a:endParaRPr lang="ru-RU" sz="24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rtl="0" fontAlgn="base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Сущности:</a:t>
            </a:r>
            <a:r>
              <a:rPr lang="ru-RU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Определите сущности, которые включены в эту предметную область. Когда будете готовы, начинайте рисовать их в прямоугольниках и подписывать существительными.</a:t>
            </a:r>
            <a:endParaRPr lang="ru-RU" sz="24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rtl="0" fontAlgn="base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Связи:</a:t>
            </a:r>
            <a:r>
              <a:rPr lang="ru-RU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Определите, как все сущности связаны между собой. Нарисуйте линии между ними для обозначения связей и подпишите их. Некоторые сущности могут быть не связаны и это нормально ☺.</a:t>
            </a:r>
            <a:endParaRPr lang="ru-RU" sz="24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rtl="0" fontAlgn="base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Атрибуты:</a:t>
            </a:r>
            <a:r>
              <a:rPr lang="ru-RU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Следующий уровень – добавление ключевых атрибутов сущностей. </a:t>
            </a:r>
            <a:endParaRPr lang="ru-RU" sz="24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rtl="0" fontAlgn="base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Кратность (мощность) связей:</a:t>
            </a:r>
            <a:r>
              <a:rPr lang="ru-RU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Покажите, где связь один-к-одному (1:1), где один-ко-многим (1:n), а где многие-ко-многим (n:n).</a:t>
            </a:r>
            <a:endParaRPr lang="ru-RU" sz="24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87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DDDE1-0F7F-4E82-AB5C-EE510F2D4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Сущности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9E6B-EF44-498D-A6C3-AB34D8B15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OpinionPro"/>
              </a:rPr>
              <a:t>Сущность (entity) — класс реальных или виртуальных однотипных объектов, информацию о которых необходимо хранить в базе данных</a:t>
            </a:r>
            <a:endParaRPr lang="en-US" b="0" i="0" dirty="0">
              <a:solidFill>
                <a:srgbClr val="000000"/>
              </a:solidFill>
              <a:effectLst/>
              <a:latin typeface="OpinionPro"/>
            </a:endParaRP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OpinionPro"/>
              </a:rPr>
              <a:t>На ER-диаграмме сущности изображаются в виде прямоугольника, внутри которого содержится имя сущности в форме существительного в единственном числе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66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801F6-EACE-4262-B81A-E99F78532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Связи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6AF59-B83A-4C8B-A4E9-8436FA8D3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OpinionPro"/>
              </a:rPr>
              <a:t>Связь (relationship) — ассоциация между сущностями. Для облегчения понимания диаграммы следует добавлять названия связей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OpinionPro"/>
              </a:rPr>
              <a:t>При определении типа следует учитывать модальность связи: «может» или «должен». Модальность «может» означает, что экземпляр одной сущности может быть связан с одним или несколькими экземплярами другой сущности, а может быть и не связан ни с одним экземпляром другой сущности. Модальность «должен» подразумевает связь не менее чем с одним экземпляром другой сущности. Примеры возможных типов связей представлены в таблице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505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5EAC5-3070-41D0-AA72-B6FAB64DC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Атрибуты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3FF50-BCDD-4C8C-A82D-3D3729CE3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OpinionPro"/>
              </a:rPr>
              <a:t>Атрибуты предназначены для описания сущности (свойства сущности)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OpinionPro"/>
              </a:rPr>
              <a:t>Ключ — это один или несколько атрибутов, уникально определяющих сущность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773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Нормализация БД</a:t>
            </a:r>
            <a:endParaRPr/>
          </a:p>
        </p:txBody>
      </p:sp>
      <p:sp>
        <p:nvSpPr>
          <p:cNvPr id="124" name="Google Shape;124;p6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dirty="0"/>
              <a:t>Нормализация делится на следующие нормальные формы: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Первая НФ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Вторая НФ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1" dirty="0"/>
              <a:t>Третья НФ</a:t>
            </a:r>
            <a:endParaRPr b="1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НФ Бойса-Кодда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Четвертая НФ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…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Первая Нормальная форма (1НФ)</a:t>
            </a:r>
            <a:endParaRPr/>
          </a:p>
        </p:txBody>
      </p:sp>
      <p:sp>
        <p:nvSpPr>
          <p:cNvPr id="131" name="Google Shape;131;p7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dirty="0"/>
              <a:t>Чтобы таблица находилась в первой нормальной форме, она должна соответствовать следующим правилам: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1" dirty="0"/>
              <a:t>Атомарность</a:t>
            </a:r>
            <a:r>
              <a:rPr lang="ru-RU" dirty="0"/>
              <a:t> значений атрибутов/столбцов.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Значения, хранимые в одном столбце, должны принадлежать одному домену (</a:t>
            </a:r>
            <a:r>
              <a:rPr lang="ru-RU" b="1" dirty="0"/>
              <a:t>типу данных</a:t>
            </a:r>
            <a:r>
              <a:rPr lang="ru-RU" dirty="0"/>
              <a:t>).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1" dirty="0"/>
              <a:t>Не</a:t>
            </a:r>
            <a:r>
              <a:rPr lang="ru-RU" dirty="0"/>
              <a:t> должно быть </a:t>
            </a:r>
            <a:r>
              <a:rPr lang="ru-RU" b="1" dirty="0"/>
              <a:t>повторений строк </a:t>
            </a:r>
            <a:r>
              <a:rPr lang="ru-RU" dirty="0"/>
              <a:t>в таблице.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Нарушение 1НФ</a:t>
            </a:r>
            <a:endParaRPr/>
          </a:p>
        </p:txBody>
      </p:sp>
      <p:graphicFrame>
        <p:nvGraphicFramePr>
          <p:cNvPr id="137" name="Google Shape;137;p8"/>
          <p:cNvGraphicFramePr/>
          <p:nvPr/>
        </p:nvGraphicFramePr>
        <p:xfrm>
          <a:off x="1693333" y="1879599"/>
          <a:ext cx="8805350" cy="36406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40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2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3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b="1" u="none" strike="noStrike" cap="none"/>
                        <a:t>Фирма</a:t>
                      </a:r>
                      <a:endParaRPr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b="1" u="none" strike="noStrike" cap="none" dirty="0"/>
                        <a:t>Модели</a:t>
                      </a:r>
                      <a:endParaRPr dirty="0"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3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u="none" strike="noStrike" cap="none"/>
                        <a:t>BMW</a:t>
                      </a:r>
                      <a:endParaRPr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u="none" strike="noStrike" cap="none" dirty="0"/>
                        <a:t>M5, X5M, M1</a:t>
                      </a:r>
                      <a:endParaRPr dirty="0"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3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u="none" strike="noStrike" cap="none"/>
                        <a:t>Nissan</a:t>
                      </a:r>
                      <a:endParaRPr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u="none" strike="noStrike" cap="none" dirty="0"/>
                        <a:t>GT-R</a:t>
                      </a:r>
                      <a:endParaRPr dirty="0"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1НФ</a:t>
            </a:r>
            <a:endParaRPr/>
          </a:p>
        </p:txBody>
      </p:sp>
      <p:graphicFrame>
        <p:nvGraphicFramePr>
          <p:cNvPr id="143" name="Google Shape;143;p9"/>
          <p:cNvGraphicFramePr/>
          <p:nvPr/>
        </p:nvGraphicFramePr>
        <p:xfrm>
          <a:off x="838200" y="1690688"/>
          <a:ext cx="10515600" cy="426987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53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b="1" u="none" strike="noStrike" cap="none" dirty="0"/>
                        <a:t>Фирма</a:t>
                      </a:r>
                      <a:endParaRPr dirty="0"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b="1" u="none" strike="noStrike" cap="none" dirty="0"/>
                        <a:t>Модель</a:t>
                      </a:r>
                      <a:endParaRPr dirty="0"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3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u="none" strike="noStrike" cap="none" dirty="0"/>
                        <a:t>BMW</a:t>
                      </a:r>
                      <a:endParaRPr dirty="0"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u="none" strike="noStrike" cap="none" dirty="0"/>
                        <a:t>M5</a:t>
                      </a:r>
                      <a:endParaRPr dirty="0"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u="none" strike="noStrike" cap="none" dirty="0"/>
                        <a:t>BMW</a:t>
                      </a:r>
                      <a:endParaRPr dirty="0"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u="none" strike="noStrike" cap="none" dirty="0"/>
                        <a:t>X5M</a:t>
                      </a:r>
                      <a:endParaRPr dirty="0"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3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u="none" strike="noStrike" cap="none" dirty="0"/>
                        <a:t>BMW</a:t>
                      </a:r>
                      <a:endParaRPr dirty="0"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u="none" strike="noStrike" cap="none" dirty="0"/>
                        <a:t>M1</a:t>
                      </a:r>
                      <a:endParaRPr dirty="0"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u="none" strike="noStrike" cap="none" dirty="0"/>
                        <a:t>Nissan</a:t>
                      </a:r>
                      <a:endParaRPr dirty="0"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u="none" strike="noStrike" cap="none" dirty="0"/>
                        <a:t>GT-R</a:t>
                      </a:r>
                      <a:endParaRPr dirty="0"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/>
              <a:t>Вторая Нормальная форма (2НФ)</a:t>
            </a:r>
            <a:endParaRPr dirty="0"/>
          </a:p>
        </p:txBody>
      </p:sp>
      <p:sp>
        <p:nvSpPr>
          <p:cNvPr id="150" name="Google Shape;150;p1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dirty="0"/>
              <a:t>Чтобы таблица находилась в первой нормальной форме, она должна соответствовать следующим правилам: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находиться в 1НФ,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не иметь частичных зависимостей (</a:t>
            </a:r>
            <a:r>
              <a:rPr lang="ru-RU" b="1" dirty="0"/>
              <a:t>все атрибуты зависят от полного первичного ключа</a:t>
            </a:r>
            <a:r>
              <a:rPr lang="ru-RU" dirty="0"/>
              <a:t>).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Нарушение 2НФ</a:t>
            </a:r>
            <a:endParaRPr/>
          </a:p>
        </p:txBody>
      </p:sp>
      <p:graphicFrame>
        <p:nvGraphicFramePr>
          <p:cNvPr id="156" name="Google Shape;156;p11"/>
          <p:cNvGraphicFramePr/>
          <p:nvPr/>
        </p:nvGraphicFramePr>
        <p:xfrm>
          <a:off x="838200" y="1690688"/>
          <a:ext cx="10515600" cy="43715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74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b="1" u="sng" strike="noStrike" cap="none" dirty="0"/>
                        <a:t>Модель</a:t>
                      </a:r>
                      <a:endParaRPr sz="2800" b="1" u="none" strike="noStrike" cap="none" dirty="0"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b="1" u="sng" strike="noStrike" cap="none" dirty="0"/>
                        <a:t>Фирма</a:t>
                      </a:r>
                      <a:endParaRPr sz="2800" b="1" u="none" strike="noStrike" cap="none" dirty="0"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b="1" u="none" strike="noStrike" cap="none"/>
                        <a:t>Цена</a:t>
                      </a:r>
                      <a:endParaRPr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b="1" u="none" strike="noStrike" cap="none"/>
                        <a:t>Скидка</a:t>
                      </a:r>
                      <a:endParaRPr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4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u="none" strike="noStrike" cap="none" dirty="0"/>
                        <a:t>M5</a:t>
                      </a:r>
                      <a:endParaRPr dirty="0"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u="none" strike="noStrike" cap="none" dirty="0"/>
                        <a:t>BMW</a:t>
                      </a:r>
                      <a:endParaRPr dirty="0"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u="none" strike="noStrike" cap="none" dirty="0"/>
                        <a:t>5500000</a:t>
                      </a:r>
                      <a:endParaRPr dirty="0"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u="none" strike="noStrike" cap="none" dirty="0"/>
                        <a:t>5%</a:t>
                      </a:r>
                      <a:endParaRPr dirty="0"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4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u="none" strike="noStrike" cap="none" dirty="0"/>
                        <a:t>X5M</a:t>
                      </a:r>
                      <a:endParaRPr dirty="0"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u="none" strike="noStrike" cap="none" dirty="0"/>
                        <a:t>BMW</a:t>
                      </a:r>
                      <a:endParaRPr dirty="0"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u="none" strike="noStrike" cap="none" dirty="0"/>
                        <a:t>6000000</a:t>
                      </a:r>
                      <a:endParaRPr dirty="0"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u="none" strike="noStrike" cap="none" dirty="0"/>
                        <a:t>5%</a:t>
                      </a:r>
                      <a:endParaRPr dirty="0"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4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u="none" strike="noStrike" cap="none" dirty="0"/>
                        <a:t>M1</a:t>
                      </a:r>
                      <a:endParaRPr dirty="0"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u="none" strike="noStrike" cap="none" dirty="0"/>
                        <a:t>BMW</a:t>
                      </a:r>
                      <a:endParaRPr dirty="0"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u="none" strike="noStrike" cap="none" dirty="0"/>
                        <a:t>2500000</a:t>
                      </a:r>
                      <a:endParaRPr dirty="0"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u="none" strike="noStrike" cap="none" dirty="0"/>
                        <a:t>5%</a:t>
                      </a:r>
                      <a:endParaRPr dirty="0"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4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u="none" strike="noStrike" cap="none" dirty="0"/>
                        <a:t>GT-R</a:t>
                      </a:r>
                      <a:endParaRPr dirty="0"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u="none" strike="noStrike" cap="none" dirty="0"/>
                        <a:t>Nissan</a:t>
                      </a:r>
                      <a:endParaRPr dirty="0"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u="none" strike="noStrike" cap="none" dirty="0"/>
                        <a:t>5000000</a:t>
                      </a:r>
                      <a:endParaRPr dirty="0"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u="none" strike="noStrike" cap="none" dirty="0"/>
                        <a:t>10%</a:t>
                      </a:r>
                      <a:endParaRPr dirty="0"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2НФ</a:t>
            </a:r>
            <a:endParaRPr/>
          </a:p>
        </p:txBody>
      </p:sp>
      <p:sp>
        <p:nvSpPr>
          <p:cNvPr id="163" name="Google Shape;163;p12"/>
          <p:cNvSpPr/>
          <p:nvPr/>
        </p:nvSpPr>
        <p:spPr>
          <a:xfrm>
            <a:off x="2862263" y="3902925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4" name="Google Shape;164;p12"/>
          <p:cNvGraphicFramePr/>
          <p:nvPr/>
        </p:nvGraphicFramePr>
        <p:xfrm>
          <a:off x="838200" y="1690688"/>
          <a:ext cx="10515600" cy="284797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5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b="1" u="sng" strike="noStrike" cap="none"/>
                        <a:t>Модель</a:t>
                      </a:r>
                      <a:endParaRPr sz="2800" b="1" u="none" strike="noStrike" cap="none"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b="1" u="sng" strike="noStrike" cap="none"/>
                        <a:t>Фирма</a:t>
                      </a:r>
                      <a:endParaRPr sz="2800" b="1" u="none" strike="noStrike" cap="none"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b="1" u="none" strike="noStrike" cap="none"/>
                        <a:t>Цена</a:t>
                      </a:r>
                      <a:endParaRPr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u="none" strike="noStrike" cap="none"/>
                        <a:t>M5</a:t>
                      </a:r>
                      <a:endParaRPr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u="none" strike="noStrike" cap="none" dirty="0"/>
                        <a:t>BMW</a:t>
                      </a:r>
                      <a:endParaRPr dirty="0"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u="none" strike="noStrike" cap="none"/>
                        <a:t>5500000</a:t>
                      </a:r>
                      <a:endParaRPr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u="none" strike="noStrike" cap="none"/>
                        <a:t>X5M</a:t>
                      </a:r>
                      <a:endParaRPr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u="none" strike="noStrike" cap="none"/>
                        <a:t>BMW</a:t>
                      </a:r>
                      <a:endParaRPr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u="none" strike="noStrike" cap="none"/>
                        <a:t>6000000</a:t>
                      </a:r>
                      <a:endParaRPr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u="none" strike="noStrike" cap="none"/>
                        <a:t>M1</a:t>
                      </a:r>
                      <a:endParaRPr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u="none" strike="noStrike" cap="none" dirty="0"/>
                        <a:t>BMW</a:t>
                      </a:r>
                      <a:endParaRPr dirty="0"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u="none" strike="noStrike" cap="none" dirty="0"/>
                        <a:t>2500000</a:t>
                      </a:r>
                      <a:endParaRPr dirty="0"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u="none" strike="noStrike" cap="none"/>
                        <a:t>GT-R</a:t>
                      </a:r>
                      <a:endParaRPr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u="none" strike="noStrike" cap="none"/>
                        <a:t>Nissan</a:t>
                      </a:r>
                      <a:endParaRPr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u="none" strike="noStrike" cap="none" dirty="0"/>
                        <a:t>5000000</a:t>
                      </a:r>
                      <a:endParaRPr dirty="0"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5" name="Google Shape;165;p12"/>
          <p:cNvSpPr txBox="1"/>
          <p:nvPr/>
        </p:nvSpPr>
        <p:spPr>
          <a:xfrm>
            <a:off x="838200" y="4216399"/>
            <a:ext cx="10515600" cy="1960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6" name="Google Shape;166;p12"/>
          <p:cNvGraphicFramePr/>
          <p:nvPr/>
        </p:nvGraphicFramePr>
        <p:xfrm>
          <a:off x="2386012" y="4841820"/>
          <a:ext cx="7420000" cy="170878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7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b="1" u="sng" strike="noStrike" cap="none" dirty="0"/>
                        <a:t>Фирма</a:t>
                      </a:r>
                      <a:endParaRPr sz="2800" b="1" u="none" strike="noStrike" cap="none" dirty="0"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b="1" u="none" strike="noStrike" cap="none" dirty="0"/>
                        <a:t>Скидка</a:t>
                      </a:r>
                      <a:endParaRPr dirty="0"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u="none" strike="noStrike" cap="none"/>
                        <a:t>BMW</a:t>
                      </a:r>
                      <a:endParaRPr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u="none" strike="noStrike" cap="none" dirty="0"/>
                        <a:t>5%</a:t>
                      </a:r>
                      <a:endParaRPr dirty="0"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u="none" strike="noStrike" cap="none"/>
                        <a:t>Nissan</a:t>
                      </a:r>
                      <a:endParaRPr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u="none" strike="noStrike" cap="none" dirty="0"/>
                        <a:t>10%</a:t>
                      </a:r>
                      <a:endParaRPr dirty="0"/>
                    </a:p>
                  </a:txBody>
                  <a:tcPr marL="114300" marR="114300" marT="57150" marB="85725">
                    <a:lnL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D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Третья Нормальная форма (3НФ)</a:t>
            </a:r>
            <a:endParaRPr/>
          </a:p>
        </p:txBody>
      </p:sp>
      <p:sp>
        <p:nvSpPr>
          <p:cNvPr id="173" name="Google Shape;173;p1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dirty="0"/>
              <a:t>Таблица находится в 3НФ, когда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она находится в 2НФ,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отсутствуют транзитивные зависимости.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Нарушение 3НФ</a:t>
            </a:r>
            <a:endParaRPr/>
          </a:p>
        </p:txBody>
      </p:sp>
      <p:graphicFrame>
        <p:nvGraphicFramePr>
          <p:cNvPr id="180" name="Google Shape;180;p14"/>
          <p:cNvGraphicFramePr/>
          <p:nvPr/>
        </p:nvGraphicFramePr>
        <p:xfrm>
          <a:off x="682922" y="3945246"/>
          <a:ext cx="10751525" cy="27432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8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5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6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3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u="sng" strike="noStrike" cap="none" dirty="0"/>
                        <a:t>ИД</a:t>
                      </a:r>
                      <a:endParaRPr sz="2000" b="1" u="sng" strike="noStrike" cap="none"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u="none" strike="noStrike" cap="none" dirty="0"/>
                        <a:t>ИД_студента</a:t>
                      </a:r>
                      <a:endParaRPr sz="2000" b="1" u="none" strike="noStrike" cap="none"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u="none" strike="noStrike" cap="none"/>
                        <a:t>ИД_предмета</a:t>
                      </a:r>
                      <a:endParaRPr sz="2000" b="1" u="none" strike="noStrike" cap="none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u="none" strike="noStrike" cap="none" dirty="0"/>
                        <a:t>Оценка</a:t>
                      </a:r>
                      <a:endParaRPr sz="2000" b="1" u="none" strike="noStrike" cap="none"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u="none" strike="noStrike" cap="none" dirty="0"/>
                        <a:t>Экзамен</a:t>
                      </a:r>
                      <a:endParaRPr sz="2000" b="1" u="none" strike="noStrike" cap="none"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u="none" strike="noStrike" cap="none" dirty="0"/>
                        <a:t>Макс.балл</a:t>
                      </a:r>
                      <a:endParaRPr sz="2000" b="1" u="none" strike="noStrike" cap="none"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1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10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1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70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Workshop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200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2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10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2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75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Mains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75</a:t>
                      </a:r>
                      <a:endParaRPr sz="2000" u="none" strike="noStrike" cap="none"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3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11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1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80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Practicals</a:t>
                      </a:r>
                      <a:endParaRPr sz="2000" u="none" strike="noStrike" cap="none"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120</a:t>
                      </a:r>
                      <a:endParaRPr sz="2000" u="none" strike="noStrike" cap="none"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4</a:t>
                      </a:r>
                      <a:endParaRPr sz="2000" u="none" strike="noStrike" cap="none"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11</a:t>
                      </a:r>
                      <a:endParaRPr sz="2000" u="none" strike="noStrike" cap="none"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2</a:t>
                      </a:r>
                      <a:endParaRPr sz="2000" u="none" strike="noStrike" cap="none"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100</a:t>
                      </a:r>
                      <a:endParaRPr sz="2000" u="none" strike="noStrike" cap="none"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Practicals</a:t>
                      </a:r>
                      <a:endParaRPr sz="2000" u="none" strike="noStrike" cap="none"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120</a:t>
                      </a:r>
                      <a:endParaRPr sz="2000" u="none" strike="noStrike" cap="none"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5</a:t>
                      </a:r>
                      <a:endParaRPr sz="2000" u="none" strike="noStrike" cap="none"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10</a:t>
                      </a:r>
                      <a:endParaRPr sz="2000" u="none" strike="noStrike" cap="none"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3</a:t>
                      </a:r>
                      <a:endParaRPr sz="2000" u="none" strike="noStrike" cap="none"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/>
                        <a:t>185</a:t>
                      </a:r>
                      <a:endParaRPr sz="2000" u="none" strike="noStrike" cap="none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Workshop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200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1" name="Google Shape;181;p14"/>
          <p:cNvSpPr/>
          <p:nvPr/>
        </p:nvSpPr>
        <p:spPr>
          <a:xfrm>
            <a:off x="2862263" y="3011488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152350" rIns="0" bIns="1523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2" name="Google Shape;182;p14"/>
          <p:cNvGraphicFramePr/>
          <p:nvPr/>
        </p:nvGraphicFramePr>
        <p:xfrm>
          <a:off x="682922" y="1968479"/>
          <a:ext cx="5052500" cy="13716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1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7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9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u="sng" strike="noStrike" cap="none" dirty="0"/>
                        <a:t>ИД</a:t>
                      </a:r>
                      <a:endParaRPr sz="2000" b="1" u="sng" strike="noStrike" cap="none"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u="none" strike="noStrike" cap="none" dirty="0"/>
                        <a:t>Имя</a:t>
                      </a:r>
                      <a:endParaRPr sz="2000" b="1" u="none" strike="noStrike" cap="none"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u="none" strike="noStrike" cap="none" dirty="0"/>
                        <a:t>Направление</a:t>
                      </a:r>
                      <a:endParaRPr sz="2000" b="1" u="none" strike="noStrike" cap="none"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u="none" strike="noStrike" cap="none"/>
                        <a:t>Адрес</a:t>
                      </a:r>
                      <a:endParaRPr sz="2000" b="1" u="none" strike="noStrike" cap="none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10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Akon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CSE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Kerala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11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Akon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IT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Gujarat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3" name="Google Shape;183;p14"/>
          <p:cNvGraphicFramePr/>
          <p:nvPr/>
        </p:nvGraphicFramePr>
        <p:xfrm>
          <a:off x="6814914" y="1572823"/>
          <a:ext cx="4619500" cy="18288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74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4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0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u="sng" strike="noStrike" cap="none"/>
                        <a:t>ИД</a:t>
                      </a:r>
                      <a:endParaRPr sz="2000" b="1" u="sng" strike="noStrike" cap="none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u="none" strike="noStrike" cap="none" dirty="0"/>
                        <a:t>Название</a:t>
                      </a:r>
                      <a:endParaRPr sz="2000" b="1" u="none" strike="noStrike" cap="none"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u="none" strike="noStrike" cap="none"/>
                        <a:t>Учитель</a:t>
                      </a:r>
                      <a:endParaRPr sz="2000" b="1" u="none" strike="noStrike" cap="none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1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Java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Java Teacher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2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/>
                        <a:t>C++</a:t>
                      </a:r>
                      <a:endParaRPr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/>
                        <a:t>C++ Teacher</a:t>
                      </a:r>
                      <a:endParaRPr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3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/>
                        <a:t>Php</a:t>
                      </a:r>
                      <a:endParaRPr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Php Teacher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4" name="Google Shape;184;p14"/>
          <p:cNvSpPr txBox="1"/>
          <p:nvPr/>
        </p:nvSpPr>
        <p:spPr>
          <a:xfrm>
            <a:off x="2735228" y="1507096"/>
            <a:ext cx="94788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Студент</a:t>
            </a:r>
            <a:endParaRPr/>
          </a:p>
        </p:txBody>
      </p:sp>
      <p:sp>
        <p:nvSpPr>
          <p:cNvPr id="185" name="Google Shape;185;p14"/>
          <p:cNvSpPr txBox="1"/>
          <p:nvPr/>
        </p:nvSpPr>
        <p:spPr>
          <a:xfrm>
            <a:off x="8599144" y="1100700"/>
            <a:ext cx="10510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Предмет</a:t>
            </a:r>
            <a:endParaRPr dirty="0"/>
          </a:p>
        </p:txBody>
      </p:sp>
      <p:sp>
        <p:nvSpPr>
          <p:cNvPr id="186" name="Google Shape;186;p14"/>
          <p:cNvSpPr txBox="1"/>
          <p:nvPr/>
        </p:nvSpPr>
        <p:spPr>
          <a:xfrm>
            <a:off x="5639336" y="3527092"/>
            <a:ext cx="9133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Оценка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3НФ</a:t>
            </a:r>
            <a:endParaRPr/>
          </a:p>
        </p:txBody>
      </p:sp>
      <p:graphicFrame>
        <p:nvGraphicFramePr>
          <p:cNvPr id="192" name="Google Shape;192;p15"/>
          <p:cNvGraphicFramePr/>
          <p:nvPr/>
        </p:nvGraphicFramePr>
        <p:xfrm>
          <a:off x="838200" y="3853662"/>
          <a:ext cx="10515600" cy="27432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77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7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7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96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u="sng" strike="noStrike" cap="none"/>
                        <a:t>ИД</a:t>
                      </a:r>
                      <a:endParaRPr sz="2000" b="1" u="sng" strike="noStrike" cap="none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u="none" strike="noStrike" cap="none"/>
                        <a:t>ИД_студента</a:t>
                      </a:r>
                      <a:endParaRPr sz="2000" b="1" u="none" strike="noStrike" cap="none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u="none" strike="noStrike" cap="none"/>
                        <a:t>ИД_предмета</a:t>
                      </a:r>
                      <a:endParaRPr sz="2000" b="1" u="none" strike="noStrike" cap="none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u="none" strike="noStrike" cap="none"/>
                        <a:t>Оценка</a:t>
                      </a:r>
                      <a:endParaRPr sz="2000" b="1" u="none" strike="noStrike" cap="none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u="none" strike="noStrike" cap="none"/>
                        <a:t>ИД_экзамена</a:t>
                      </a:r>
                      <a:endParaRPr sz="2000" b="1" u="none" strike="noStrike" cap="none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1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10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1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70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1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/>
                        <a:t>2</a:t>
                      </a:r>
                      <a:endParaRPr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10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2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/>
                        <a:t>75</a:t>
                      </a:r>
                      <a:endParaRPr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2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/>
                        <a:t>3</a:t>
                      </a:r>
                      <a:endParaRPr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/>
                        <a:t>11</a:t>
                      </a:r>
                      <a:endParaRPr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/>
                        <a:t>1</a:t>
                      </a:r>
                      <a:endParaRPr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/>
                        <a:t>80</a:t>
                      </a:r>
                      <a:endParaRPr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3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/>
                        <a:t>4</a:t>
                      </a:r>
                      <a:endParaRPr sz="2000" u="none" strike="noStrike" cap="none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/>
                        <a:t>11</a:t>
                      </a:r>
                      <a:endParaRPr sz="2000" u="none" strike="noStrike" cap="none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/>
                        <a:t>2</a:t>
                      </a:r>
                      <a:endParaRPr sz="2000" u="none" strike="noStrike" cap="none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/>
                        <a:t>100</a:t>
                      </a:r>
                      <a:endParaRPr sz="2000" u="none" strike="noStrike" cap="none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3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/>
                        <a:t>5</a:t>
                      </a:r>
                      <a:endParaRPr sz="2000" u="none" strike="noStrike" cap="none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/>
                        <a:t>10</a:t>
                      </a:r>
                      <a:endParaRPr sz="2000" u="none" strike="noStrike" cap="none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/>
                        <a:t>3</a:t>
                      </a:r>
                      <a:endParaRPr sz="2000" u="none" strike="noStrike" cap="none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/>
                        <a:t>185</a:t>
                      </a:r>
                      <a:endParaRPr sz="2000" u="none" strike="noStrike" cap="none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1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3" name="Google Shape;193;p15"/>
          <p:cNvSpPr/>
          <p:nvPr/>
        </p:nvSpPr>
        <p:spPr>
          <a:xfrm>
            <a:off x="2862263" y="3011488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152350" rIns="0" bIns="1523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4" name="Google Shape;194;p15"/>
          <p:cNvGraphicFramePr/>
          <p:nvPr/>
        </p:nvGraphicFramePr>
        <p:xfrm>
          <a:off x="2675467" y="1641030"/>
          <a:ext cx="6993450" cy="18288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331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u="sng" strike="noStrike" cap="none" dirty="0"/>
                        <a:t>ИД</a:t>
                      </a:r>
                      <a:endParaRPr sz="2000" b="1" u="sng" strike="noStrike" cap="none"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u="none" strike="noStrike" cap="none" dirty="0"/>
                        <a:t>Название</a:t>
                      </a:r>
                      <a:endParaRPr sz="2000" b="1" u="none" strike="noStrike" cap="none"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u="none" strike="noStrike" cap="none" dirty="0"/>
                        <a:t>Макс.балл</a:t>
                      </a:r>
                      <a:endParaRPr sz="2000" b="1" u="none" strike="noStrike" cap="none"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1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Workshop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200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2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Mains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70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3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Practicals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/>
                        <a:t>30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5" name="Google Shape;195;p15"/>
          <p:cNvSpPr txBox="1"/>
          <p:nvPr/>
        </p:nvSpPr>
        <p:spPr>
          <a:xfrm>
            <a:off x="5661484" y="1171698"/>
            <a:ext cx="102143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Экзамен</a:t>
            </a:r>
            <a:endParaRPr/>
          </a:p>
        </p:txBody>
      </p:sp>
      <p:sp>
        <p:nvSpPr>
          <p:cNvPr id="196" name="Google Shape;196;p15"/>
          <p:cNvSpPr txBox="1"/>
          <p:nvPr/>
        </p:nvSpPr>
        <p:spPr>
          <a:xfrm>
            <a:off x="5715536" y="3484330"/>
            <a:ext cx="9133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Оценка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17;p5">
            <a:extLst>
              <a:ext uri="{FF2B5EF4-FFF2-40B4-BE49-F238E27FC236}">
                <a16:creationId xmlns:a16="http://schemas.microsoft.com/office/drawing/2014/main" id="{98F4962D-8EA3-4AA5-B882-0C52E11D2978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8275" y="2435225"/>
            <a:ext cx="10095450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4D65DF-975D-4F96-8D23-483F29B36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81A7C-890B-4162-B065-4AE394EE4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Задание про рецепты</a:t>
            </a:r>
          </a:p>
          <a:p>
            <a:r>
              <a:rPr lang="en-US" dirty="0"/>
              <a:t>Visio</a:t>
            </a:r>
          </a:p>
        </p:txBody>
      </p:sp>
    </p:spTree>
    <p:extLst>
      <p:ext uri="{BB962C8B-B14F-4D97-AF65-F5344CB8AC3E}">
        <p14:creationId xmlns:p14="http://schemas.microsoft.com/office/powerpoint/2010/main" val="4138859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842</TotalTime>
  <Words>1285</Words>
  <Application>Microsoft Macintosh PowerPoint</Application>
  <PresentationFormat>Widescreen</PresentationFormat>
  <Paragraphs>259</Paragraphs>
  <Slides>22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OpinionPro</vt:lpstr>
      <vt:lpstr>Office Theme</vt:lpstr>
      <vt:lpstr>Проектирование и разработка баз данных</vt:lpstr>
      <vt:lpstr>План</vt:lpstr>
      <vt:lpstr>Базы данных</vt:lpstr>
      <vt:lpstr>Архитектура «клиент-сервер»</vt:lpstr>
      <vt:lpstr>База данных</vt:lpstr>
      <vt:lpstr>СУБД</vt:lpstr>
      <vt:lpstr>ER-диаграммы (диаграммы сущность-связь)</vt:lpstr>
      <vt:lpstr>Основные шаги построения ER-диаграммы</vt:lpstr>
      <vt:lpstr>Сущности</vt:lpstr>
      <vt:lpstr>Связи</vt:lpstr>
      <vt:lpstr>Атрибуты</vt:lpstr>
      <vt:lpstr>Нормализация БД</vt:lpstr>
      <vt:lpstr>Первая Нормальная форма (1НФ)</vt:lpstr>
      <vt:lpstr>Нарушение 1НФ</vt:lpstr>
      <vt:lpstr>1НФ</vt:lpstr>
      <vt:lpstr>Вторая Нормальная форма (2НФ)</vt:lpstr>
      <vt:lpstr>Нарушение 2НФ</vt:lpstr>
      <vt:lpstr>2НФ</vt:lpstr>
      <vt:lpstr>Третья Нормальная форма (3НФ)</vt:lpstr>
      <vt:lpstr>Нарушение 3НФ</vt:lpstr>
      <vt:lpstr>3НФ</vt:lpstr>
      <vt:lpstr>ПРАКТИКА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Проектирование и разработка баз данных</dc:title>
  <dc:creator>09</dc:creator>
  <cp:lastModifiedBy>Пользователь Microsoft Office</cp:lastModifiedBy>
  <cp:revision>34</cp:revision>
  <dcterms:created xsi:type="dcterms:W3CDTF">2020-08-08T22:40:14Z</dcterms:created>
  <dcterms:modified xsi:type="dcterms:W3CDTF">2021-07-02T14:20:12Z</dcterms:modified>
</cp:coreProperties>
</file>