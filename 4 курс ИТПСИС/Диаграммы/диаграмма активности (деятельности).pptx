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16E21-8393-4608-916B-7BD0B237E18D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7BA68-E443-401C-BA68-22FC56DF73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80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541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41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65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4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06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30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16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24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23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8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60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9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65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A77A2-08DF-4BCB-A608-21A649B59855}" type="datetimeFigureOut">
              <a:rPr lang="ru-RU" smtClean="0"/>
              <a:t>16.09.2022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78E1D-984C-47FF-9122-96657C312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5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51296" y="1582170"/>
            <a:ext cx="9144000" cy="1655762"/>
          </a:xfrm>
        </p:spPr>
        <p:txBody>
          <a:bodyPr>
            <a:normAutofit/>
          </a:bodyPr>
          <a:lstStyle/>
          <a:p>
            <a:r>
              <a:rPr lang="ru-RU" sz="5400" dirty="0" smtClean="0"/>
              <a:t>Диаграмма активности(деятельности)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98233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F3E5B4-C6DE-D548-958F-695AC92C65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06" t="21795" r="17343" b="10105"/>
          <a:stretch/>
        </p:blipFill>
        <p:spPr>
          <a:xfrm>
            <a:off x="4657725" y="575738"/>
            <a:ext cx="7372349" cy="5906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85CB9-8C19-A147-9287-D761C345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Диаграммы активности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635-BF76-1C41-92B2-78D866728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9525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Диаграммы </a:t>
            </a:r>
            <a:r>
              <a:rPr lang="ru-RU" dirty="0" smtClean="0"/>
              <a:t>активности </a:t>
            </a:r>
            <a:r>
              <a:rPr lang="ru-RU" dirty="0"/>
              <a:t>– это технология, позволяющая описывать логику процедур, бизнес</a:t>
            </a:r>
            <a:r>
              <a:rPr lang="en-US" dirty="0"/>
              <a:t>-</a:t>
            </a:r>
            <a:r>
              <a:rPr lang="ru-RU" dirty="0"/>
              <a:t>процессы и потоки работ. </a:t>
            </a:r>
            <a:endParaRPr lang="en-US" dirty="0"/>
          </a:p>
          <a:p>
            <a:r>
              <a:rPr lang="ru-RU" dirty="0"/>
              <a:t>Во многих случаях они напоминают блок</a:t>
            </a:r>
            <a:r>
              <a:rPr lang="en-US" dirty="0"/>
              <a:t>-</a:t>
            </a:r>
            <a:r>
              <a:rPr lang="ru-RU" dirty="0"/>
              <a:t>схемы, но принципиальная разница между диаграммами деятельности и </a:t>
            </a:r>
            <a:r>
              <a:rPr lang="ru-RU" dirty="0" err="1"/>
              <a:t>нотациеи</a:t>
            </a:r>
            <a:r>
              <a:rPr lang="ru-RU" dirty="0"/>
              <a:t>̆ блок</a:t>
            </a:r>
            <a:r>
              <a:rPr lang="en-US" dirty="0"/>
              <a:t>-</a:t>
            </a:r>
            <a:r>
              <a:rPr lang="ru-RU" dirty="0"/>
              <a:t>схем заключается в том, что первые поддерживают параллельное процессы. </a:t>
            </a:r>
          </a:p>
        </p:txBody>
      </p:sp>
    </p:spTree>
    <p:extLst>
      <p:ext uri="{BB962C8B-B14F-4D97-AF65-F5344CB8AC3E}">
        <p14:creationId xmlns:p14="http://schemas.microsoft.com/office/powerpoint/2010/main" val="269959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999A-BDFD-354C-88B5-04515109F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Swimlanes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C782-A936-F747-A9D9-330644F11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5614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некоторых версиях </a:t>
            </a:r>
            <a:r>
              <a:rPr lang="en-US" dirty="0"/>
              <a:t>UML </a:t>
            </a:r>
            <a:r>
              <a:rPr lang="ru-RU" dirty="0"/>
              <a:t>используется такое понятие как дорожки (</a:t>
            </a:r>
            <a:r>
              <a:rPr lang="en-US" dirty="0" err="1"/>
              <a:t>swimlanes</a:t>
            </a:r>
            <a:r>
              <a:rPr lang="en-US" dirty="0"/>
              <a:t>) </a:t>
            </a:r>
            <a:r>
              <a:rPr lang="ru-RU" dirty="0"/>
              <a:t>по аналогии с дорожками в плавательном бассейне. </a:t>
            </a:r>
          </a:p>
          <a:p>
            <a:r>
              <a:rPr lang="ru-RU" dirty="0"/>
              <a:t>Дорожки зачастую символизируют роль пользователя или организационное подразделение, осуществляющее определенные действия в рамках данной деятельности. </a:t>
            </a:r>
          </a:p>
          <a:p>
            <a:r>
              <a:rPr lang="ru-RU" dirty="0"/>
              <a:t>Более формально, дорожка - часть области диаграммы деятельности, на которой отображаются только те деятельности, за которые отвечает конкретный объект.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36983-D368-FC45-9506-17E08F7C9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98" y="0"/>
            <a:ext cx="4977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6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7110-624B-9A41-95E7-D48ACFC6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 и конец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06B39-CD6F-6743-98BE-3D5568D7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96916" cy="4351338"/>
          </a:xfrm>
        </p:spPr>
        <p:txBody>
          <a:bodyPr/>
          <a:lstStyle/>
          <a:p>
            <a:r>
              <a:rPr lang="ru-RU" b="1" dirty="0"/>
              <a:t>Диаграмма деятельности начинается с начального узла и должна завершаться конечным.</a:t>
            </a:r>
            <a:endParaRPr lang="ru-RU" dirty="0"/>
          </a:p>
          <a:p>
            <a:r>
              <a:rPr lang="ru-RU" b="1" dirty="0"/>
              <a:t>Начальный узел деятельности </a:t>
            </a:r>
            <a:r>
              <a:rPr lang="ru-RU" dirty="0"/>
              <a:t>является узлом управления, в котором начинается поток при вызове данной деятельности извне.</a:t>
            </a:r>
          </a:p>
          <a:p>
            <a:r>
              <a:rPr lang="ru-RU" b="1" dirty="0"/>
              <a:t>Конечный узел деятельности </a:t>
            </a:r>
            <a:r>
              <a:rPr lang="ru-RU" dirty="0"/>
              <a:t>является узлом управления, который останавливает все потоки данной диаграммы деятельности. На диаграмме может быть более одного конечного узла.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D74D6-6936-8148-9F92-C4C90ACE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116" y="1675867"/>
            <a:ext cx="1854200" cy="184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CD44F0-0157-F74E-9015-8543A7F41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716" y="4335463"/>
            <a:ext cx="16510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1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569B-D768-B846-9D31-62E421A2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5F57-7175-3148-8197-1A309F3EE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7028" cy="4351338"/>
          </a:xfrm>
        </p:spPr>
        <p:txBody>
          <a:bodyPr/>
          <a:lstStyle/>
          <a:p>
            <a:r>
              <a:rPr lang="ru-RU" dirty="0"/>
              <a:t>Ключевые элементы на диаграмме деятельности называются операциями (</a:t>
            </a:r>
            <a:r>
              <a:rPr lang="en-US" dirty="0"/>
              <a:t>actions).</a:t>
            </a:r>
          </a:p>
          <a:p>
            <a:r>
              <a:rPr lang="ru-RU" dirty="0"/>
              <a:t>Операция может содержать входящие и исходящие </a:t>
            </a:r>
            <a:r>
              <a:rPr lang="ru-RU" b="1" dirty="0"/>
              <a:t>дуги деятельности</a:t>
            </a:r>
            <a:r>
              <a:rPr lang="ru-RU" dirty="0"/>
              <a:t>, показывающие потоки управления.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BC2B4-4454-594B-BEA3-77C7651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718" y="1825625"/>
            <a:ext cx="30861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8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F8D2-8A27-5D41-8032-BD9F5753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Решения (</a:t>
            </a:r>
            <a:r>
              <a:rPr lang="en-US" dirty="0"/>
              <a:t>decisions) </a:t>
            </a:r>
            <a:r>
              <a:rPr lang="ru-RU" dirty="0"/>
              <a:t>и ветки (</a:t>
            </a:r>
            <a:r>
              <a:rPr lang="en-US" dirty="0"/>
              <a:t>branches)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85B79-2094-8344-974F-6CC875844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0414" cy="4351338"/>
          </a:xfrm>
        </p:spPr>
        <p:txBody>
          <a:bodyPr/>
          <a:lstStyle/>
          <a:p>
            <a:r>
              <a:rPr lang="ru-RU" dirty="0"/>
              <a:t>Условное поведение схематически обозначается с помощью решений (</a:t>
            </a:r>
            <a:r>
              <a:rPr lang="en-US" dirty="0"/>
              <a:t>decisions) </a:t>
            </a:r>
            <a:r>
              <a:rPr lang="ru-RU" dirty="0"/>
              <a:t>и слияний (</a:t>
            </a:r>
            <a:r>
              <a:rPr lang="en-US" dirty="0"/>
              <a:t>merges). 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dirty="0"/>
              <a:t> имеет один </a:t>
            </a:r>
            <a:r>
              <a:rPr lang="ru-RU" dirty="0" err="1"/>
              <a:t>входящии</a:t>
            </a:r>
            <a:r>
              <a:rPr lang="ru-RU" dirty="0"/>
              <a:t>̆ поток и несколько защищенных выходных потоков. </a:t>
            </a:r>
          </a:p>
          <a:p>
            <a:r>
              <a:rPr lang="ru-RU" dirty="0" err="1"/>
              <a:t>Каждыи</a:t>
            </a:r>
            <a:r>
              <a:rPr lang="ru-RU" dirty="0"/>
              <a:t>̆ </a:t>
            </a:r>
            <a:r>
              <a:rPr lang="ru-RU" dirty="0" err="1"/>
              <a:t>выходнои</a:t>
            </a:r>
            <a:r>
              <a:rPr lang="ru-RU" dirty="0"/>
              <a:t>̆ поток имеет защиту – условное выражение, помещенное в квадратные скобки.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936D4-24CD-0348-AA88-837B5448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029" y="4335722"/>
            <a:ext cx="5126038" cy="222072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C8ED19-2F69-3645-A6FE-DA273444CBD0}"/>
              </a:ext>
            </a:extLst>
          </p:cNvPr>
          <p:cNvSpPr txBox="1">
            <a:spLocks/>
          </p:cNvSpPr>
          <p:nvPr/>
        </p:nvSpPr>
        <p:spPr>
          <a:xfrm>
            <a:off x="838200" y="4536632"/>
            <a:ext cx="5489796" cy="2104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Каждыи</a:t>
            </a:r>
            <a:r>
              <a:rPr lang="ru-RU" dirty="0"/>
              <a:t>̆ раз при достижении решения выбирается только один из выходных потоков, поэтому защиты должны быть взаимно исключающими.</a:t>
            </a:r>
          </a:p>
        </p:txBody>
      </p:sp>
    </p:spTree>
    <p:extLst>
      <p:ext uri="{BB962C8B-B14F-4D97-AF65-F5344CB8AC3E}">
        <p14:creationId xmlns:p14="http://schemas.microsoft.com/office/powerpoint/2010/main" val="44860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2F09-51F6-A548-B736-32DC3A23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Слияния (</a:t>
            </a:r>
            <a:r>
              <a:rPr lang="en-US" dirty="0"/>
              <a:t>merges)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E2541-42B4-8E40-BCBD-150BCB55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7540" cy="4351338"/>
          </a:xfrm>
        </p:spPr>
        <p:txBody>
          <a:bodyPr/>
          <a:lstStyle/>
          <a:p>
            <a:r>
              <a:rPr lang="ru-RU" b="1" dirty="0"/>
              <a:t>В большинстве случаев решение заканчивается слиянием </a:t>
            </a:r>
            <a:r>
              <a:rPr lang="ru-RU" dirty="0"/>
              <a:t>(</a:t>
            </a:r>
            <a:r>
              <a:rPr lang="en-US" dirty="0"/>
              <a:t>merge), </a:t>
            </a:r>
            <a:r>
              <a:rPr lang="ru-RU" dirty="0"/>
              <a:t>которое имеет несколько входных потоков и один </a:t>
            </a:r>
            <a:r>
              <a:rPr lang="ru-RU" dirty="0" err="1"/>
              <a:t>выходнои</a:t>
            </a:r>
            <a:r>
              <a:rPr lang="ru-RU" dirty="0"/>
              <a:t>̆. </a:t>
            </a:r>
            <a:endParaRPr lang="en-US" dirty="0"/>
          </a:p>
          <a:p>
            <a:r>
              <a:rPr lang="ru-RU" dirty="0"/>
              <a:t>Слияние означает завершение условного поведения, которое было начато решением.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A1FC3-F46C-BD4A-83CA-5598049E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210" y="1953183"/>
            <a:ext cx="4675188" cy="32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3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76C3-4AFE-3F4C-AE4D-3B3802C7F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Fork&amp;Join</a:t>
            </a:r>
            <a:r>
              <a:rPr lang="en-US" dirty="0"/>
              <a:t> (</a:t>
            </a:r>
            <a:r>
              <a:rPr lang="ru-RU" dirty="0"/>
              <a:t>разделения и слияния)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DDDF-D9D6-9A46-B0FF-9A945F7FE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реализации параллельных потоков на диаграмме деятельности предназначены </a:t>
            </a:r>
            <a:r>
              <a:rPr lang="ru-RU" b="1" dirty="0"/>
              <a:t>точки разделения (</a:t>
            </a:r>
            <a:r>
              <a:rPr lang="en-US" b="1" dirty="0"/>
              <a:t>Fork) </a:t>
            </a:r>
            <a:r>
              <a:rPr lang="ru-RU" b="1" dirty="0"/>
              <a:t>и точки слияния (</a:t>
            </a:r>
            <a:r>
              <a:rPr lang="en-US" b="1" dirty="0"/>
              <a:t>Join). </a:t>
            </a:r>
            <a:endParaRPr lang="ru-RU" b="1" dirty="0"/>
          </a:p>
          <a:p>
            <a:r>
              <a:rPr lang="ru-RU" b="1" dirty="0"/>
              <a:t>Из точки разделения </a:t>
            </a:r>
            <a:r>
              <a:rPr lang="ru-RU" dirty="0"/>
              <a:t>выходит два и более потока, каждый из которых далее выполняется параллельно с другими. </a:t>
            </a:r>
          </a:p>
          <a:p>
            <a:r>
              <a:rPr lang="ru-RU" b="1" dirty="0"/>
              <a:t>Точка слияния </a:t>
            </a:r>
            <a:r>
              <a:rPr lang="ru-RU" dirty="0"/>
              <a:t>обеспечивает синхронизацию нескольких параллельных потоков, причем каждый из них ждет, пока все остальные достигнут этой точки, после чего выполнение продолжается в рамках одного потока.</a:t>
            </a:r>
          </a:p>
        </p:txBody>
      </p:sp>
    </p:spTree>
    <p:extLst>
      <p:ext uri="{BB962C8B-B14F-4D97-AF65-F5344CB8AC3E}">
        <p14:creationId xmlns:p14="http://schemas.microsoft.com/office/powerpoint/2010/main" val="296434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60D2-05E1-A944-B268-D8FD7BE9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Fork&amp;Join</a:t>
            </a:r>
            <a:r>
              <a:rPr lang="en-US" dirty="0"/>
              <a:t> (</a:t>
            </a:r>
            <a:r>
              <a:rPr lang="ru-RU" dirty="0"/>
              <a:t>разделения и слияния)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C77D-786A-F148-ABF0-CF598DB6B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B4446-3E77-2F4E-B084-02A31B0C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20" y="1690688"/>
            <a:ext cx="5050774" cy="178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9178D8-3308-DF4E-A405-02A20A903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050" y="4529137"/>
            <a:ext cx="65659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0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Создать диаграмму деятельности для банкомата.</a:t>
            </a:r>
          </a:p>
          <a:p>
            <a:r>
              <a:rPr lang="ru-RU" dirty="0"/>
              <a:t>Описание процесса снятия наличных:</a:t>
            </a:r>
          </a:p>
          <a:p>
            <a:pPr lvl="1"/>
            <a:r>
              <a:rPr lang="ru-RU" dirty="0"/>
              <a:t>Клиент вставляет карту в банкомат и вводит </a:t>
            </a:r>
            <a:r>
              <a:rPr lang="ru-RU" dirty="0" err="1"/>
              <a:t>пин</a:t>
            </a:r>
            <a:r>
              <a:rPr lang="ru-RU" dirty="0"/>
              <a:t>-код</a:t>
            </a:r>
          </a:p>
          <a:p>
            <a:pPr lvl="1"/>
            <a:r>
              <a:rPr lang="ru-RU" dirty="0"/>
              <a:t>Если </a:t>
            </a:r>
            <a:r>
              <a:rPr lang="ru-RU" dirty="0" err="1"/>
              <a:t>пин</a:t>
            </a:r>
            <a:r>
              <a:rPr lang="ru-RU" dirty="0"/>
              <a:t>-код неверный, то АТМ возвращает карту клиенту, а при успешном вводе продолжает работу в авторизованном режиме</a:t>
            </a:r>
          </a:p>
          <a:p>
            <a:pPr lvl="1"/>
            <a:r>
              <a:rPr lang="ru-RU" dirty="0"/>
              <a:t>Клиент вводит сумму для снятия, а система проверяет наличие денежных средств на счете</a:t>
            </a:r>
          </a:p>
          <a:p>
            <a:pPr lvl="1"/>
            <a:r>
              <a:rPr lang="ru-RU" dirty="0"/>
              <a:t>Если средств недостаточно, то банкомат отображает текущий баланс с информацией о недостатке средств</a:t>
            </a:r>
          </a:p>
          <a:p>
            <a:pPr lvl="1"/>
            <a:r>
              <a:rPr lang="ru-RU" dirty="0"/>
              <a:t>Если текущий баланс достаточен, то списывает со счета запрошенную сумму, выдает деньги в слот для клиента и отображает обновленный баланс</a:t>
            </a:r>
          </a:p>
          <a:p>
            <a:pPr lvl="1"/>
            <a:r>
              <a:rPr lang="ru-RU" dirty="0"/>
              <a:t>После чего банкомат возвращает карту клиенту, а последний должен ее обязательно забрать в течение определенного времени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287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Широкоэкранный</PresentationFormat>
  <Paragraphs>42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Диаграммы активности</vt:lpstr>
      <vt:lpstr>Swimlanes </vt:lpstr>
      <vt:lpstr>Начало и конец</vt:lpstr>
      <vt:lpstr>Операции</vt:lpstr>
      <vt:lpstr>Решения (decisions) и ветки (branches)</vt:lpstr>
      <vt:lpstr>Слияния (merges)</vt:lpstr>
      <vt:lpstr>Fork&amp;Join (разделения и слияния)</vt:lpstr>
      <vt:lpstr>Fork&amp;Join (разделения и слияния)</vt:lpstr>
      <vt:lpstr>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 02.01. Технология разработки ПО</dc:title>
  <dc:creator>uzer</dc:creator>
  <cp:lastModifiedBy>uzer</cp:lastModifiedBy>
  <cp:revision>2</cp:revision>
  <dcterms:created xsi:type="dcterms:W3CDTF">2022-02-07T10:49:19Z</dcterms:created>
  <dcterms:modified xsi:type="dcterms:W3CDTF">2022-09-16T05:55:06Z</dcterms:modified>
</cp:coreProperties>
</file>