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374" r:id="rId2"/>
    <p:sldId id="264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272" r:id="rId11"/>
    <p:sldId id="273" r:id="rId12"/>
    <p:sldId id="274" r:id="rId13"/>
    <p:sldId id="275" r:id="rId14"/>
    <p:sldId id="276" r:id="rId15"/>
    <p:sldId id="280" r:id="rId16"/>
    <p:sldId id="277" r:id="rId17"/>
    <p:sldId id="27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D068C2-EC5B-1E45-9880-E73D8C35C612}">
          <p14:sldIdLst>
            <p14:sldId id="374"/>
          </p14:sldIdLst>
        </p14:section>
        <p14:section name="UML - Intro" id="{B14E9AEC-1DB2-C74A-8696-A13E87BC8265}">
          <p14:sldIdLst>
            <p14:sldId id="264"/>
            <p14:sldId id="382"/>
            <p14:sldId id="383"/>
            <p14:sldId id="384"/>
            <p14:sldId id="385"/>
            <p14:sldId id="386"/>
            <p14:sldId id="387"/>
            <p14:sldId id="388"/>
            <p14:sldId id="272"/>
            <p14:sldId id="273"/>
            <p14:sldId id="274"/>
            <p14:sldId id="275"/>
            <p14:sldId id="276"/>
            <p14:sldId id="280"/>
            <p14:sldId id="277"/>
            <p14:sldId id="278"/>
          </p14:sldIdLst>
        </p14:section>
        <p14:section name="UML - Use Case" id="{DDFB2534-08CF-9345-B7B3-A4A0CD70B28A}">
          <p14:sldIdLst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UML - Class" id="{EDEDD373-381B-2E40-9EB4-84B3A1481B82}">
          <p14:sldIdLst/>
        </p14:section>
        <p14:section name="UML - Sequence" id="{6C2ABA33-E6A8-464F-B418-135BCA073507}">
          <p14:sldIdLst/>
        </p14:section>
        <p14:section name="UML - Activity" id="{8E11F31D-F9FD-4D40-BF7A-640DAC43EC1F}">
          <p14:sldIdLst/>
        </p14:section>
        <p14:section name="СР" id="{809FD9F1-07D1-3D47-8972-06E8CBFAE32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9"/>
    <p:restoredTop sz="94364" autoAdjust="0"/>
  </p:normalViewPr>
  <p:slideViewPr>
    <p:cSldViewPr snapToGrid="0" snapToObjects="1">
      <p:cViewPr varScale="1">
        <p:scale>
          <a:sx n="70" d="100"/>
          <a:sy n="70" d="100"/>
        </p:scale>
        <p:origin x="6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89E28-9DED-4845-A53C-45DECD8178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874B37A-FB30-4669-AE1E-C4BCB02B4E96}">
      <dgm:prSet phldrT="[Текст]"/>
      <dgm:spPr/>
      <dgm:t>
        <a:bodyPr/>
        <a:lstStyle/>
        <a:p>
          <a:r>
            <a:rPr lang="ru-RU" dirty="0">
              <a:latin typeface="Akrobat ExtraBold" panose="00000900000000000000" pitchFamily="50" charset="-52"/>
            </a:rPr>
            <a:t>Проектирование</a:t>
          </a:r>
        </a:p>
      </dgm:t>
    </dgm:pt>
    <dgm:pt modelId="{CDFE91C7-91A9-4395-BBD2-0D00B4ECFE0E}" type="parTrans" cxnId="{51E1A6BD-45A3-481A-A928-2C8BE9E1B39A}">
      <dgm:prSet/>
      <dgm:spPr/>
      <dgm:t>
        <a:bodyPr/>
        <a:lstStyle/>
        <a:p>
          <a:endParaRPr lang="ru-RU"/>
        </a:p>
      </dgm:t>
    </dgm:pt>
    <dgm:pt modelId="{445853A5-BC88-425F-BADF-8E35CD7021D4}" type="sibTrans" cxnId="{51E1A6BD-45A3-481A-A928-2C8BE9E1B39A}">
      <dgm:prSet/>
      <dgm:spPr/>
      <dgm:t>
        <a:bodyPr/>
        <a:lstStyle/>
        <a:p>
          <a:endParaRPr lang="ru-RU"/>
        </a:p>
      </dgm:t>
    </dgm:pt>
    <dgm:pt modelId="{EC2BD6C9-3A4D-4AF5-9CDA-8BA43419F43E}">
      <dgm:prSet phldrT="[Текст]"/>
      <dgm:spPr/>
      <dgm:t>
        <a:bodyPr/>
        <a:lstStyle/>
        <a:p>
          <a:r>
            <a:rPr lang="ru-RU" dirty="0">
              <a:latin typeface="Akrobat ExtraBold" panose="00000900000000000000" pitchFamily="50" charset="-52"/>
            </a:rPr>
            <a:t>Кодирование</a:t>
          </a:r>
        </a:p>
      </dgm:t>
    </dgm:pt>
    <dgm:pt modelId="{C0383D6A-0EAD-4919-82B8-9B2736DB58F3}" type="parTrans" cxnId="{8DEA5AB2-8F36-4103-97AB-560C4B007F39}">
      <dgm:prSet/>
      <dgm:spPr/>
      <dgm:t>
        <a:bodyPr/>
        <a:lstStyle/>
        <a:p>
          <a:endParaRPr lang="ru-RU"/>
        </a:p>
      </dgm:t>
    </dgm:pt>
    <dgm:pt modelId="{D10CFC31-13B3-4B2D-BEBA-0FC5B2ABEBAA}" type="sibTrans" cxnId="{8DEA5AB2-8F36-4103-97AB-560C4B007F39}">
      <dgm:prSet/>
      <dgm:spPr/>
      <dgm:t>
        <a:bodyPr/>
        <a:lstStyle/>
        <a:p>
          <a:endParaRPr lang="ru-RU"/>
        </a:p>
      </dgm:t>
    </dgm:pt>
    <dgm:pt modelId="{28DBD97C-D670-4C75-BFAE-DDE6A2D20313}" type="pres">
      <dgm:prSet presAssocID="{9EE89E28-9DED-4845-A53C-45DECD8178F0}" presName="CompostProcess" presStyleCnt="0">
        <dgm:presLayoutVars>
          <dgm:dir/>
          <dgm:resizeHandles val="exact"/>
        </dgm:presLayoutVars>
      </dgm:prSet>
      <dgm:spPr/>
    </dgm:pt>
    <dgm:pt modelId="{2A338DE3-D829-4CE4-8B29-FE015BF1F779}" type="pres">
      <dgm:prSet presAssocID="{9EE89E28-9DED-4845-A53C-45DECD8178F0}" presName="arrow" presStyleLbl="bgShp" presStyleIdx="0" presStyleCnt="1"/>
      <dgm:spPr/>
    </dgm:pt>
    <dgm:pt modelId="{5EC73684-B237-4858-9811-9DE91A9B8426}" type="pres">
      <dgm:prSet presAssocID="{9EE89E28-9DED-4845-A53C-45DECD8178F0}" presName="linearProcess" presStyleCnt="0"/>
      <dgm:spPr/>
    </dgm:pt>
    <dgm:pt modelId="{A401FE18-FED4-4BC9-B59C-B55DA24CC89F}" type="pres">
      <dgm:prSet presAssocID="{5874B37A-FB30-4669-AE1E-C4BCB02B4E96}" presName="text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33ACC7-4050-4BC3-8F93-828831B26FE8}" type="pres">
      <dgm:prSet presAssocID="{445853A5-BC88-425F-BADF-8E35CD7021D4}" presName="sibTrans" presStyleCnt="0"/>
      <dgm:spPr/>
    </dgm:pt>
    <dgm:pt modelId="{ECD82E47-E458-4C8B-8580-CE109E1867AE}" type="pres">
      <dgm:prSet presAssocID="{EC2BD6C9-3A4D-4AF5-9CDA-8BA43419F43E}" presName="text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73E0FD4-4B8D-4FE7-AD8A-42966C90C443}" type="presOf" srcId="{5874B37A-FB30-4669-AE1E-C4BCB02B4E96}" destId="{A401FE18-FED4-4BC9-B59C-B55DA24CC89F}" srcOrd="0" destOrd="0" presId="urn:microsoft.com/office/officeart/2005/8/layout/hProcess9"/>
    <dgm:cxn modelId="{1097A880-97B8-4997-AF4F-1976E8884C3F}" type="presOf" srcId="{9EE89E28-9DED-4845-A53C-45DECD8178F0}" destId="{28DBD97C-D670-4C75-BFAE-DDE6A2D20313}" srcOrd="0" destOrd="0" presId="urn:microsoft.com/office/officeart/2005/8/layout/hProcess9"/>
    <dgm:cxn modelId="{51E1A6BD-45A3-481A-A928-2C8BE9E1B39A}" srcId="{9EE89E28-9DED-4845-A53C-45DECD8178F0}" destId="{5874B37A-FB30-4669-AE1E-C4BCB02B4E96}" srcOrd="0" destOrd="0" parTransId="{CDFE91C7-91A9-4395-BBD2-0D00B4ECFE0E}" sibTransId="{445853A5-BC88-425F-BADF-8E35CD7021D4}"/>
    <dgm:cxn modelId="{37E420A4-0B5D-4CDB-9D0F-0CD6400E2FDC}" type="presOf" srcId="{EC2BD6C9-3A4D-4AF5-9CDA-8BA43419F43E}" destId="{ECD82E47-E458-4C8B-8580-CE109E1867AE}" srcOrd="0" destOrd="0" presId="urn:microsoft.com/office/officeart/2005/8/layout/hProcess9"/>
    <dgm:cxn modelId="{8DEA5AB2-8F36-4103-97AB-560C4B007F39}" srcId="{9EE89E28-9DED-4845-A53C-45DECD8178F0}" destId="{EC2BD6C9-3A4D-4AF5-9CDA-8BA43419F43E}" srcOrd="1" destOrd="0" parTransId="{C0383D6A-0EAD-4919-82B8-9B2736DB58F3}" sibTransId="{D10CFC31-13B3-4B2D-BEBA-0FC5B2ABEBAA}"/>
    <dgm:cxn modelId="{D4DE89E2-80BD-46B2-8A03-F2AC0156210F}" type="presParOf" srcId="{28DBD97C-D670-4C75-BFAE-DDE6A2D20313}" destId="{2A338DE3-D829-4CE4-8B29-FE015BF1F779}" srcOrd="0" destOrd="0" presId="urn:microsoft.com/office/officeart/2005/8/layout/hProcess9"/>
    <dgm:cxn modelId="{DDEAAB0F-0962-4A5A-B0E8-457674FABF4E}" type="presParOf" srcId="{28DBD97C-D670-4C75-BFAE-DDE6A2D20313}" destId="{5EC73684-B237-4858-9811-9DE91A9B8426}" srcOrd="1" destOrd="0" presId="urn:microsoft.com/office/officeart/2005/8/layout/hProcess9"/>
    <dgm:cxn modelId="{1C469C02-B414-4F7A-B901-4926B97D0B56}" type="presParOf" srcId="{5EC73684-B237-4858-9811-9DE91A9B8426}" destId="{A401FE18-FED4-4BC9-B59C-B55DA24CC89F}" srcOrd="0" destOrd="0" presId="urn:microsoft.com/office/officeart/2005/8/layout/hProcess9"/>
    <dgm:cxn modelId="{159BD0F4-CE47-4DF1-84DA-603ABF5880AD}" type="presParOf" srcId="{5EC73684-B237-4858-9811-9DE91A9B8426}" destId="{F133ACC7-4050-4BC3-8F93-828831B26FE8}" srcOrd="1" destOrd="0" presId="urn:microsoft.com/office/officeart/2005/8/layout/hProcess9"/>
    <dgm:cxn modelId="{263AED2D-BF35-4AF6-8A54-57467ABED7D9}" type="presParOf" srcId="{5EC73684-B237-4858-9811-9DE91A9B8426}" destId="{ECD82E47-E458-4C8B-8580-CE109E1867AE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38DE3-D829-4CE4-8B29-FE015BF1F779}">
      <dsp:nvSpPr>
        <dsp:cNvPr id="0" name=""/>
        <dsp:cNvSpPr/>
      </dsp:nvSpPr>
      <dsp:spPr>
        <a:xfrm>
          <a:off x="457199" y="0"/>
          <a:ext cx="5181600" cy="4064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1FE18-FED4-4BC9-B59C-B55DA24CC89F}">
      <dsp:nvSpPr>
        <dsp:cNvPr id="0" name=""/>
        <dsp:cNvSpPr/>
      </dsp:nvSpPr>
      <dsp:spPr>
        <a:xfrm>
          <a:off x="74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latin typeface="Akrobat ExtraBold" panose="00000900000000000000" pitchFamily="50" charset="-52"/>
            </a:rPr>
            <a:t>Проектирование</a:t>
          </a:r>
        </a:p>
      </dsp:txBody>
      <dsp:txXfrm>
        <a:off x="79429" y="1298554"/>
        <a:ext cx="2814875" cy="1466890"/>
      </dsp:txXfrm>
    </dsp:sp>
    <dsp:sp modelId="{ECD82E47-E458-4C8B-8580-CE109E1867AE}">
      <dsp:nvSpPr>
        <dsp:cNvPr id="0" name=""/>
        <dsp:cNvSpPr/>
      </dsp:nvSpPr>
      <dsp:spPr>
        <a:xfrm>
          <a:off x="3122339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>
              <a:latin typeface="Akrobat ExtraBold" panose="00000900000000000000" pitchFamily="50" charset="-52"/>
            </a:rPr>
            <a:t>Кодирование</a:t>
          </a:r>
        </a:p>
      </dsp:txBody>
      <dsp:txXfrm>
        <a:off x="3201694" y="1298554"/>
        <a:ext cx="2814875" cy="146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A5C17-42C0-404B-8386-D5B71A526CDE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4847E-0A41-6F40-8620-D606F0C66C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7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60CA-B981-4C41-95A7-F0B3919F2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E7961-57E4-4C44-B901-D8129DB69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E95F0-51C5-114E-9308-AAA66EDA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6A7D0-F17F-5948-9C4B-2F70E6DA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884DC-DFCA-B74F-B14B-2D310FC7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79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2672-7FBA-FB4A-A1BB-90E1BAFD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904F8-2165-3C45-A2D2-15BF5B3C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8EDF-058A-A84C-8DCD-A925F4E9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416C4-ED41-434F-8724-4EFC6D0B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2805-4CCD-7640-B7C4-B2974982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7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B8DC-0EED-A546-8465-297AADBE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3B536-FF21-6E46-8E9E-F953E979E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F977-CD85-394A-A91A-422E68BA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E0F0C-5CED-6145-83D1-E481CEEA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88B3D-9C07-7F43-BC47-01FA5AC6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42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368B-A04B-7F47-974D-47567952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D9A7-2973-2047-B0AD-4DFB86E34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D352-7802-2B42-BFC7-EC1FECC24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B6C4E-F574-FC4D-AB35-B9492762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A1D8A-213E-BB4D-AF33-7FC53818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C6431-7444-DA42-8328-767A1E51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75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018D-F264-6B4F-980B-7A3C6D85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3BFF1-F3E6-6241-B1D8-26FB2F8B4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AF55F-7FD4-CA49-A381-2CDB879F4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F2A4A-9A47-4C4C-A731-E332B1EB6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E250C-13D8-0849-9814-FC78C42DE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EEDFA-BB95-A94F-A311-5FFD6698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47523-0B06-C848-A7D5-7C847904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07B5E-AF62-194F-92EF-8E1861A4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65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0759-2A3A-EE48-B571-D56FF2E3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DD26B-6BC4-D141-914F-5F317519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1A938-348C-594F-877A-12C6D1CC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BB33D-F6BC-F941-96C9-2F4FD6A0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19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57445-744F-EC47-84EB-2993AD25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5E222-BF62-D146-B136-EEEAD5E2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FC084-8E8F-E24F-A233-32A3ADAE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7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A407-8B28-0648-97A9-B739BE2D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4F75B-3B6E-6A47-95A0-4B772E5A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58D84-F01B-FF45-BB04-2A60F098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19D0E-6881-8F49-9715-48595A8B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535F-EA74-604E-96F2-22D10986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C60A3-CC70-DE4C-9FEE-B2955290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35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140E-850D-C643-BC4D-A28571FB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57EB5-A61A-E149-A796-C2E799BB4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66EB0-D9B4-A740-854B-2D244059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8BC41-20A4-BC4E-94F1-F902E184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79E17-58C2-D845-860E-E0C18051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083B4-2211-344C-8221-8FDEC21F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7C92-7FDA-6146-8601-5149A030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3DA4B-1416-2D4A-9803-75E9095B3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AB9B-22F0-704E-B1E7-FB00DD11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87C5-57BE-DD4C-9F4D-9E97DDEA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7770E-E0CF-B247-B2DE-29C46D29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97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D51B0-2C40-C441-BB99-76A18C77C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2DFB2-7544-484B-9638-69538A1F8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B15FB-DDA0-BC4D-8D32-4EF10AAB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065B-6D38-544F-98CE-DB7E423F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92482-AD33-3A40-AFE2-91D41546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BAB6B-9BA6-944E-971B-5EA05846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84ABD-EE5C-3B41-A4BA-00FB0F22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9A5C1-E32F-0540-AD20-3FA873CBE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2752B-E22C-3846-9CAE-5A643FAFFDE2}" type="datetimeFigureOut">
              <a:rPr lang="ru-RU" smtClean="0"/>
              <a:t>10.09.2022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8D63-FE67-6F41-9F4E-217A847E0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6635D-5FDF-4440-9D35-A23DC9393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77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1488-4E63-7040-8BAA-9071DE0F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Диаграммы </a:t>
            </a:r>
            <a:r>
              <a:rPr lang="en-US" dirty="0"/>
              <a:t>UML</a:t>
            </a: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D74E-1111-884A-8CFF-6E080E427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845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Akrobat ExtraBold" panose="00000900000000000000" pitchFamily="50" charset="-52"/>
              </a:rPr>
              <a:t>Принцип создания проектов</a:t>
            </a:r>
          </a:p>
        </p:txBody>
      </p:sp>
      <p:graphicFrame>
        <p:nvGraphicFramePr>
          <p:cNvPr id="4" name="Схема 3"/>
          <p:cNvGraphicFramePr/>
          <p:nvPr>
            <p:extLst/>
          </p:nvPr>
        </p:nvGraphicFramePr>
        <p:xfrm>
          <a:off x="3048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072D8B1-3664-4941-A5E6-AD32FE48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9F35-5DDB-7744-A8C0-D60320BB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CAC6-CDCC-664F-93B5-FE2D9332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 ходе проектирования архитектором создается проектная документация, включающая:</a:t>
            </a:r>
            <a:endParaRPr lang="en-US" dirty="0"/>
          </a:p>
          <a:p>
            <a:r>
              <a:rPr lang="ru-RU" dirty="0"/>
              <a:t>текстовые описания</a:t>
            </a:r>
          </a:p>
          <a:p>
            <a:r>
              <a:rPr lang="ru-RU" dirty="0"/>
              <a:t>диаграммы</a:t>
            </a:r>
          </a:p>
          <a:p>
            <a:r>
              <a:rPr lang="ru-RU" dirty="0"/>
              <a:t>модели будущей программы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Для этого используется графический язык для визуализации, описания параметров, конструирования и документирования различных систем </a:t>
            </a:r>
            <a:r>
              <a:rPr lang="en-US" dirty="0"/>
              <a:t>– </a:t>
            </a:r>
            <a:r>
              <a:rPr lang="en-US" b="1" dirty="0"/>
              <a:t>UML</a:t>
            </a:r>
            <a:r>
              <a:rPr lang="en-US" dirty="0"/>
              <a:t>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118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6C03-A0E4-614B-B8DD-0B75DF53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krobat ExtraBold" panose="00000900000000000000" pitchFamily="50" charset="-52"/>
              </a:rPr>
              <a:t>UML(Unified Modeling Language)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F207-886C-CC4A-9867-18FD0145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Цель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  <a:r>
              <a:rPr lang="ru-RU" dirty="0">
                <a:latin typeface="Akrobat ExtraBold" panose="00000900000000000000" pitchFamily="50" charset="-52"/>
              </a:rPr>
              <a:t> – проектирование, документирование, визуальное описание основных компонентов проекта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Диаграмма – визуальное описание процесса, классов, взаимодействия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На каждый процесс – своя диаграмма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Хранение важной информации в эл. виде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Не язык программирования (но можно генерировать код)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Дополняет ТЗ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Видение процесса «сверху»</a:t>
            </a:r>
          </a:p>
        </p:txBody>
      </p:sp>
    </p:spTree>
    <p:extLst>
      <p:ext uri="{BB962C8B-B14F-4D97-AF65-F5344CB8AC3E}">
        <p14:creationId xmlns:p14="http://schemas.microsoft.com/office/powerpoint/2010/main" val="70816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3297-7551-124F-80F3-1EB4D4C1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Кто может использовать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1F11-7D5E-A54C-85FE-F3C7C5B7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Заказчик </a:t>
            </a:r>
            <a:r>
              <a:rPr lang="ru-RU" dirty="0">
                <a:latin typeface="Akrobat ExtraBold" panose="00000900000000000000" pitchFamily="50" charset="-52"/>
              </a:rPr>
              <a:t>– общие задачи и цели проекта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Аналитик </a:t>
            </a:r>
            <a:r>
              <a:rPr lang="ru-RU" dirty="0">
                <a:latin typeface="Akrobat ExtraBold" panose="00000900000000000000" pitchFamily="50" charset="-52"/>
              </a:rPr>
              <a:t>– подходы, правильность работы системы и её частей, «слои» приложения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Разработчик/Архитектор</a:t>
            </a:r>
            <a:r>
              <a:rPr lang="ru-RU" dirty="0">
                <a:latin typeface="Akrobat ExtraBold" panose="00000900000000000000" pitchFamily="50" charset="-52"/>
              </a:rPr>
              <a:t> – дизайн кода, архитектура классов, объектов и взаимодействий</a:t>
            </a:r>
          </a:p>
          <a:p>
            <a:pPr marL="0" indent="0">
              <a:buNone/>
            </a:pPr>
            <a:r>
              <a:rPr lang="ru-RU" b="1" dirty="0" err="1">
                <a:latin typeface="Akrobat ExtraBold" panose="00000900000000000000" pitchFamily="50" charset="-52"/>
              </a:rPr>
              <a:t>Тестировщик</a:t>
            </a:r>
            <a:r>
              <a:rPr lang="ru-RU" dirty="0">
                <a:latin typeface="Akrobat ExtraBold" panose="00000900000000000000" pitchFamily="50" charset="-52"/>
              </a:rPr>
              <a:t> – проверка функционала на всех уровнях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Менеджер проекта </a:t>
            </a:r>
            <a:r>
              <a:rPr lang="ru-RU" dirty="0">
                <a:latin typeface="Akrobat ExtraBold" panose="00000900000000000000" pitchFamily="50" charset="-52"/>
              </a:rPr>
              <a:t>– общая картина по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395305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69A4-A0A0-3942-A6B8-25EDCB87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Плюсы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BC33-7E10-3345-AE14-878909DC6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b="1" dirty="0">
                <a:latin typeface="Akrobat ExtraBold" panose="00000900000000000000" pitchFamily="50" charset="-52"/>
              </a:rPr>
              <a:t>Универсальность – единая технология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Автоматическая генерация кода на основе </a:t>
            </a:r>
            <a:r>
              <a:rPr lang="en-US" dirty="0">
                <a:latin typeface="Akrobat ExtraBold" panose="00000900000000000000" pitchFamily="50" charset="-52"/>
              </a:rPr>
              <a:t>UML-</a:t>
            </a:r>
            <a:r>
              <a:rPr lang="ru-RU" dirty="0">
                <a:latin typeface="Akrobat ExtraBold" panose="00000900000000000000" pitchFamily="50" charset="-52"/>
              </a:rPr>
              <a:t>диаграмм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Широкое применение – ИТ, бизнес и др.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Поддержка ООП</a:t>
            </a:r>
          </a:p>
          <a:p>
            <a:pPr algn="just"/>
            <a:r>
              <a:rPr lang="ru-RU" b="1" dirty="0">
                <a:latin typeface="Akrobat ExtraBold" panose="00000900000000000000" pitchFamily="50" charset="-52"/>
              </a:rPr>
              <a:t>Большое количество типов диаграмм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Удобные инструменты, плагины для многих </a:t>
            </a:r>
            <a:r>
              <a:rPr lang="en-US" dirty="0">
                <a:latin typeface="Akrobat ExtraBold" panose="00000900000000000000" pitchFamily="50" charset="-52"/>
              </a:rPr>
              <a:t>IDE</a:t>
            </a:r>
          </a:p>
          <a:p>
            <a:pPr algn="just"/>
            <a:r>
              <a:rPr lang="ru-RU" b="1" dirty="0">
                <a:latin typeface="Akrobat ExtraBold" panose="00000900000000000000" pitchFamily="50" charset="-52"/>
              </a:rPr>
              <a:t>Разбор основных моментов проекта без изучения кода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Миграция диаграмм инструментальными средствами</a:t>
            </a:r>
          </a:p>
        </p:txBody>
      </p:sp>
    </p:spTree>
    <p:extLst>
      <p:ext uri="{BB962C8B-B14F-4D97-AF65-F5344CB8AC3E}">
        <p14:creationId xmlns:p14="http://schemas.microsoft.com/office/powerpoint/2010/main" val="45083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D398-EB83-ED49-A3B3-890238DD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latin typeface="Akrobat ExtraBold" panose="00000900000000000000" pitchFamily="50" charset="-52"/>
              </a:rPr>
              <a:t>Минусы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766E-D97D-984A-A3EB-777D146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Изучение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Для начинающих – путаница в количестве диаграмм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Знание ООП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Детализация/поверхностное описание</a:t>
            </a:r>
          </a:p>
          <a:p>
            <a:r>
              <a:rPr lang="ru-RU" b="1" dirty="0">
                <a:latin typeface="Akrobat ExtraBold" panose="00000900000000000000" pitchFamily="50" charset="-52"/>
              </a:rPr>
              <a:t>Учебные материалы сложны и запутаны</a:t>
            </a:r>
          </a:p>
        </p:txBody>
      </p:sp>
    </p:spTree>
    <p:extLst>
      <p:ext uri="{BB962C8B-B14F-4D97-AF65-F5344CB8AC3E}">
        <p14:creationId xmlns:p14="http://schemas.microsoft.com/office/powerpoint/2010/main" val="376560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A3DA-F23E-014F-BB21-6E3BAEB6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Типы диаграмм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356E1-44C6-4445-8BCC-816BCE8F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007D9-582C-904E-9104-7ED8A90073FF}"/>
              </a:ext>
            </a:extLst>
          </p:cNvPr>
          <p:cNvSpPr txBox="1"/>
          <p:nvPr/>
        </p:nvSpPr>
        <p:spPr>
          <a:xfrm>
            <a:off x="1809577" y="3298403"/>
            <a:ext cx="3690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krobat ExtraBold" panose="00000900000000000000" pitchFamily="50" charset="-52"/>
              </a:rPr>
              <a:t>Structure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Общая картина взаимодействия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Как устроено, кто с кем связан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00529-719A-7648-9DAC-85BA93C8D493}"/>
              </a:ext>
            </a:extLst>
          </p:cNvPr>
          <p:cNvSpPr txBox="1"/>
          <p:nvPr/>
        </p:nvSpPr>
        <p:spPr>
          <a:xfrm>
            <a:off x="6765235" y="3298403"/>
            <a:ext cx="36907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krobat ExtraBold" panose="00000900000000000000" pitchFamily="50" charset="-52"/>
              </a:rPr>
              <a:t>Behavior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Динамическое поведение, изменение состояния во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Как работает, последовательность процессов</a:t>
            </a:r>
          </a:p>
        </p:txBody>
      </p:sp>
      <p:sp>
        <p:nvSpPr>
          <p:cNvPr id="6" name="Блок-схема: альтернативный процесс 6">
            <a:extLst>
              <a:ext uri="{FF2B5EF4-FFF2-40B4-BE49-F238E27FC236}">
                <a16:creationId xmlns:a16="http://schemas.microsoft.com/office/drawing/2014/main" id="{96C8AD5D-9F09-394F-BD73-209FA57B14C4}"/>
              </a:ext>
            </a:extLst>
          </p:cNvPr>
          <p:cNvSpPr/>
          <p:nvPr/>
        </p:nvSpPr>
        <p:spPr>
          <a:xfrm>
            <a:off x="1360968" y="1830525"/>
            <a:ext cx="4426689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rgbClr val="FFFFFF"/>
                </a:solidFill>
                <a:latin typeface="Akrobat ExtraBold" panose="00000900000000000000" pitchFamily="50" charset="-52"/>
              </a:rPr>
              <a:t>Структурные</a:t>
            </a:r>
          </a:p>
        </p:txBody>
      </p:sp>
      <p:sp>
        <p:nvSpPr>
          <p:cNvPr id="7" name="Блок-схема: альтернативный процесс 7">
            <a:extLst>
              <a:ext uri="{FF2B5EF4-FFF2-40B4-BE49-F238E27FC236}">
                <a16:creationId xmlns:a16="http://schemas.microsoft.com/office/drawing/2014/main" id="{032F4B4E-ED9B-604D-A81A-37035035D833}"/>
              </a:ext>
            </a:extLst>
          </p:cNvPr>
          <p:cNvSpPr/>
          <p:nvPr/>
        </p:nvSpPr>
        <p:spPr>
          <a:xfrm>
            <a:off x="6397256" y="1830525"/>
            <a:ext cx="4426688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rgbClr val="FFFFFF"/>
                </a:solidFill>
                <a:latin typeface="Akrobat ExtraBold" panose="00000900000000000000" pitchFamily="50" charset="-52"/>
              </a:rPr>
              <a:t>Поведенческие</a:t>
            </a:r>
          </a:p>
        </p:txBody>
      </p:sp>
    </p:spTree>
    <p:extLst>
      <p:ext uri="{BB962C8B-B14F-4D97-AF65-F5344CB8AC3E}">
        <p14:creationId xmlns:p14="http://schemas.microsoft.com/office/powerpoint/2010/main" val="397502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E61B-257C-9346-AB3A-EB643FE7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krobat ExtraBold" panose="00000900000000000000" pitchFamily="50" charset="-52"/>
              </a:rPr>
              <a:t>Типы диаграмм</a:t>
            </a:r>
            <a:endParaRPr lang="ru-RU" dirty="0"/>
          </a:p>
        </p:txBody>
      </p:sp>
      <p:pic>
        <p:nvPicPr>
          <p:cNvPr id="4" name="Picture 2" descr="ÐÐ°ÑÑÐ¸Ð½ÐºÐ¸ Ð¿Ð¾ Ð·Ð°Ð¿ÑÐ¾ÑÑ ÑÐ¸Ð¿Ñ Ð´Ð¸Ð°Ð³ÑÐ°Ð¼Ð¼ uml 2.5">
            <a:extLst>
              <a:ext uri="{FF2B5EF4-FFF2-40B4-BE49-F238E27FC236}">
                <a16:creationId xmlns:a16="http://schemas.microsoft.com/office/drawing/2014/main" id="{39A8F616-63E7-0444-9693-92FB30F932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972" y="258800"/>
            <a:ext cx="6337006" cy="633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16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17235" y="318053"/>
            <a:ext cx="4412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Class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1870" y="1587026"/>
            <a:ext cx="38856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классов, интерфейсов, связей, методов</a:t>
            </a:r>
          </a:p>
          <a:p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Структура в стиле ООП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Позволяет понять работу кода без изучения самого кода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err="1">
                <a:latin typeface="Akrobat ExtraBold" panose="00000900000000000000" pitchFamily="50" charset="-52"/>
              </a:rPr>
              <a:t>Автогенерация</a:t>
            </a:r>
            <a:r>
              <a:rPr lang="ru-RU" sz="2400" dirty="0">
                <a:latin typeface="Akrobat ExtraBold" panose="00000900000000000000" pitchFamily="50" charset="-52"/>
              </a:rPr>
              <a:t> кода на основе диаграмм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040" y="1527390"/>
            <a:ext cx="5361804" cy="45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3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8210" y="483705"/>
            <a:ext cx="492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krobat ExtraBold" panose="00000900000000000000" pitchFamily="50" charset="-52"/>
              </a:rPr>
              <a:t>Object diagram</a:t>
            </a:r>
            <a:endParaRPr lang="ru-RU" sz="48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8648" y="1931120"/>
            <a:ext cx="34323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Состояние экземпляров классов с конкретными значениями полей в определенный момент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Похож на диаграмму классов, но в режиме </a:t>
            </a:r>
            <a:r>
              <a:rPr lang="en-US" sz="2400" dirty="0">
                <a:latin typeface="Akrobat ExtraBold" panose="00000900000000000000" pitchFamily="50" charset="-52"/>
              </a:rPr>
              <a:t>runtime</a:t>
            </a:r>
            <a:r>
              <a:rPr lang="ru-RU" sz="2400" dirty="0">
                <a:latin typeface="Akrobat ExtraBold" panose="00000900000000000000" pitchFamily="50" charset="-52"/>
              </a:rPr>
              <a:t> (во время работы программы)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950" y="2843539"/>
            <a:ext cx="5437117" cy="28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5444" y="337932"/>
            <a:ext cx="4578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Package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898" y="2057928"/>
            <a:ext cx="30811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>
                <a:latin typeface="Akrobat ExtraBold" panose="00000900000000000000" pitchFamily="50" charset="-52"/>
              </a:rPr>
              <a:t>Показывает вложенность и связи между пакетами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ru-RU" sz="2800" dirty="0">
              <a:latin typeface="Akrobat ExtraBold" panose="00000900000000000000" pitchFamily="50" charset="-52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>
                <a:latin typeface="Akrobat ExtraBold" panose="00000900000000000000" pitchFamily="50" charset="-52"/>
              </a:rPr>
              <a:t>Более высокий уровень, чем классы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04" y="1869636"/>
            <a:ext cx="6008495" cy="39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63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0487" y="265044"/>
            <a:ext cx="3988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Model diagram 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9460" y="1688879"/>
            <a:ext cx="32504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«слоев» проекта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Используется для многоуровневых приложений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Часто используется в ТЗ для общего описания частей проекта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905" y="1231679"/>
            <a:ext cx="5612295" cy="566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0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826" y="371060"/>
            <a:ext cx="42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Use</a:t>
            </a:r>
            <a:r>
              <a:rPr lang="ru-RU" sz="4000" dirty="0">
                <a:latin typeface="Akrobat ExtraBold" panose="00000900000000000000" pitchFamily="50" charset="-52"/>
              </a:rPr>
              <a:t> </a:t>
            </a:r>
            <a:r>
              <a:rPr lang="en-US" sz="4000" dirty="0">
                <a:latin typeface="Akrobat ExtraBold" panose="00000900000000000000" pitchFamily="50" charset="-52"/>
              </a:rPr>
              <a:t>Case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116" y="1563758"/>
            <a:ext cx="36357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krobat ExtraBold" panose="00000900000000000000" pitchFamily="50" charset="-52"/>
              </a:rPr>
              <a:t>Диаграмма прецедентов/вариантов использования</a:t>
            </a:r>
          </a:p>
          <a:p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Описание возможных сценариев работы с системой с точки зрения пользователя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Возможные пути использования системы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Описание всех участников системы (актеры)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63" y="1919255"/>
            <a:ext cx="6387979" cy="396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6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826" y="371060"/>
            <a:ext cx="42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Activity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051" y="840120"/>
            <a:ext cx="442229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возможных бизнес-процессов приложения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Взаимодействие «потоков», пошаговое представление 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Более низкий уровень, чем </a:t>
            </a:r>
            <a:r>
              <a:rPr lang="en-US" sz="2400" dirty="0" err="1">
                <a:latin typeface="Akrobat ExtraBold" panose="00000900000000000000" pitchFamily="50" charset="-52"/>
              </a:rPr>
              <a:t>UseCase</a:t>
            </a: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Может быть конкретным описанием блоков </a:t>
            </a:r>
            <a:r>
              <a:rPr lang="en-US" sz="2400" dirty="0" err="1">
                <a:latin typeface="Akrobat ExtraBold" panose="00000900000000000000" pitchFamily="50" charset="-52"/>
              </a:rPr>
              <a:t>UseCase</a:t>
            </a:r>
            <a:r>
              <a:rPr lang="ru-RU" sz="2400" dirty="0">
                <a:latin typeface="Akrobat ExtraBold" panose="00000900000000000000" pitchFamily="50" charset="-52"/>
              </a:rPr>
              <a:t> диаграмм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04" y="1138581"/>
            <a:ext cx="3865071" cy="56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2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0730" y="390940"/>
            <a:ext cx="5287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Sequence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707" y="1607521"/>
            <a:ext cx="39858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Последовательность взаимодействия объектов для определенного бизнес-процесса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Как объекты друг друга вызывают и какие данные передают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Показывают объекты в действии</a:t>
            </a:r>
          </a:p>
          <a:p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Показывают время жизни объектов (создание, удаление)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850" y="1270300"/>
            <a:ext cx="5269603" cy="55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56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8574" y="390939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Deployment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8195" y="1951200"/>
            <a:ext cx="32574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архитектуры, топологии системы (ОС, БД, сервера и пр.)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Информация для администраторов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162" y="2120810"/>
            <a:ext cx="6723669" cy="287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65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494-E6BB-D740-9761-32E2BE89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Диаграмма вариантов использования</a:t>
            </a:r>
            <a:br>
              <a:rPr lang="ru-RU" altLang="ru-RU" dirty="0"/>
            </a:br>
            <a:r>
              <a:rPr lang="ru-RU" altLang="ru-RU" dirty="0"/>
              <a:t>(</a:t>
            </a:r>
            <a:r>
              <a:rPr lang="en-US" altLang="ru-RU" dirty="0"/>
              <a:t>U</a:t>
            </a:r>
            <a:r>
              <a:rPr lang="ru-RU" altLang="ru-RU" dirty="0" err="1"/>
              <a:t>se</a:t>
            </a:r>
            <a:r>
              <a:rPr lang="ru-RU" altLang="ru-RU" dirty="0"/>
              <a:t> </a:t>
            </a:r>
            <a:r>
              <a:rPr lang="en-US" altLang="ru-RU" dirty="0"/>
              <a:t>C</a:t>
            </a:r>
            <a:r>
              <a:rPr lang="ru-RU" altLang="ru-RU" dirty="0" err="1"/>
              <a:t>ase</a:t>
            </a:r>
            <a:r>
              <a:rPr lang="ru-RU" altLang="ru-RU" dirty="0"/>
              <a:t> </a:t>
            </a:r>
            <a:r>
              <a:rPr lang="en-US" altLang="ru-RU" dirty="0"/>
              <a:t>D</a:t>
            </a:r>
            <a:r>
              <a:rPr lang="ru-RU" altLang="ru-RU" dirty="0" err="1"/>
              <a:t>iagram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7313-207D-9F46-90F1-BA6FFF311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Диаграмма, отражающая отношения между актерами и прецедентами и являющаяся составной частью модели прецедентов, позволяющей описать систему на концептуальном уровне</a:t>
            </a:r>
            <a:endParaRPr lang="ru-RU" altLang="ru-RU" sz="2200" dirty="0">
              <a:latin typeface="Akrobat ExtraBold" panose="00000900000000000000" pitchFamily="50" charset="-52"/>
            </a:endParaRPr>
          </a:p>
          <a:p>
            <a:r>
              <a:rPr lang="ru-RU" dirty="0"/>
              <a:t>Диаграмма вариантов использования достаточно проста, что позволяет использовать ее для согласования технического задания с заказчиком</a:t>
            </a:r>
          </a:p>
        </p:txBody>
      </p:sp>
    </p:spTree>
    <p:extLst>
      <p:ext uri="{BB962C8B-B14F-4D97-AF65-F5344CB8AC3E}">
        <p14:creationId xmlns:p14="http://schemas.microsoft.com/office/powerpoint/2010/main" val="123270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83D9-0316-DB4C-A5FB-7D6B9409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Use Case Diagram</a:t>
            </a:r>
            <a:endParaRPr lang="ru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1AF28D-74C2-B347-99A9-2DBC7E272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752" y="1825625"/>
            <a:ext cx="61844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8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B157-625B-BA4B-84C7-0FF3E20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Назначение диаграммы вариантов использования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F7D7-A0AA-0B4B-BD9F-33EA658B9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Определить общие границы функциональности проектируемой системы в контексте моделируемой предметной области.</a:t>
            </a:r>
          </a:p>
          <a:p>
            <a:r>
              <a:rPr lang="ru-RU" altLang="ru-RU" dirty="0"/>
              <a:t>Специфицировать требования к функциональному поведению проектируемой системы в форме вариантов использования.</a:t>
            </a:r>
          </a:p>
          <a:p>
            <a:r>
              <a:rPr lang="ru-RU" altLang="ru-RU" dirty="0"/>
              <a:t>Разработать исходную концептуальную модель системы для ее последующей детализации в форме логических и физических моделей.</a:t>
            </a:r>
          </a:p>
          <a:p>
            <a:r>
              <a:rPr lang="ru-RU" altLang="ru-RU" dirty="0"/>
              <a:t>Подготовить исходную документацию для взаимодействия разработчиков системы с ее заказчиками и пользователями</a:t>
            </a:r>
          </a:p>
        </p:txBody>
      </p:sp>
    </p:spTree>
    <p:extLst>
      <p:ext uri="{BB962C8B-B14F-4D97-AF65-F5344CB8AC3E}">
        <p14:creationId xmlns:p14="http://schemas.microsoft.com/office/powerpoint/2010/main" val="3920384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738F-4305-4D4C-8521-B4AC4F5E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Прецеденты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AC344-0462-C74F-960D-08855A450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 err="1">
                <a:latin typeface="Akrobat ExtraBold" panose="00000900000000000000" pitchFamily="50" charset="-52"/>
              </a:rPr>
              <a:t>UseCase</a:t>
            </a:r>
            <a:r>
              <a:rPr lang="ru-RU" dirty="0">
                <a:latin typeface="Akrobat ExtraBold" panose="00000900000000000000" pitchFamily="50" charset="-52"/>
              </a:rPr>
              <a:t> </a:t>
            </a:r>
            <a:r>
              <a:rPr lang="en-US" dirty="0">
                <a:latin typeface="Akrobat ExtraBold" panose="00000900000000000000" pitchFamily="50" charset="-52"/>
              </a:rPr>
              <a:t>(</a:t>
            </a:r>
            <a:r>
              <a:rPr lang="ru-RU" dirty="0">
                <a:latin typeface="Akrobat ExtraBold" panose="00000900000000000000" pitchFamily="50" charset="-52"/>
              </a:rPr>
              <a:t>случай использования, прецедент) – набор сценариев, путей, которые нужно выполнить для достижения целей приложения (с точки зрения пользователей)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Описывает участников (</a:t>
            </a:r>
            <a:r>
              <a:rPr lang="en-US" dirty="0">
                <a:latin typeface="Akrobat ExtraBold" panose="00000900000000000000" pitchFamily="50" charset="-52"/>
              </a:rPr>
              <a:t>actor)</a:t>
            </a:r>
            <a:r>
              <a:rPr lang="ru-RU" dirty="0">
                <a:latin typeface="Akrobat ExtraBold" panose="00000900000000000000" pitchFamily="50" charset="-52"/>
              </a:rPr>
              <a:t>, возможные сценарии (успешные и неудачные), которые выполняются для решения задач приложения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Может описывать основные сценарии, которые составляют «ядро» приложения (дополнительные сценарии могут добавляться по ходу разработки)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Ориентация на пользователей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464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75D2-998F-2C47-869C-B09EDC21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Основные обозначения на диаграмме вариантов использования</a:t>
            </a:r>
            <a:endParaRPr lang="ru-RU" dirty="0"/>
          </a:p>
        </p:txBody>
      </p:sp>
      <p:pic>
        <p:nvPicPr>
          <p:cNvPr id="4" name="Picture 1027" descr="UC_00">
            <a:extLst>
              <a:ext uri="{FF2B5EF4-FFF2-40B4-BE49-F238E27FC236}">
                <a16:creationId xmlns:a16="http://schemas.microsoft.com/office/drawing/2014/main" id="{9DB8A8D1-0BB4-B045-8FB1-C7D58A3BD6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767" y="2078238"/>
            <a:ext cx="6952466" cy="413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197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2E2E-195B-8F47-9997-DAC2B8EF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Вариант использования (</a:t>
            </a:r>
            <a:r>
              <a:rPr lang="ru-RU" altLang="ru-RU" dirty="0" err="1"/>
              <a:t>use</a:t>
            </a:r>
            <a:r>
              <a:rPr lang="ru-RU" altLang="ru-RU" dirty="0"/>
              <a:t> </a:t>
            </a:r>
            <a:r>
              <a:rPr lang="ru-RU" altLang="ru-RU" dirty="0" err="1"/>
              <a:t>case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C251-2970-9349-9583-17B8F4CE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dirty="0"/>
              <a:t>Представляет собой общую спецификацию совокупности выполняемых системой действий с целью предоставления некоторого наблюдаемого результата, который имеет значение для одного или нескольких актеров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Отвечает на вопрос «Что должна выполнять система?», не отвечая на вопрос «Как она должна выполнять это?»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Имена – отглагольное существительное или глагол в неопределенной форме</a:t>
            </a:r>
          </a:p>
        </p:txBody>
      </p:sp>
      <p:pic>
        <p:nvPicPr>
          <p:cNvPr id="4" name="Picture 4" descr="Рис_03_2а">
            <a:extLst>
              <a:ext uri="{FF2B5EF4-FFF2-40B4-BE49-F238E27FC236}">
                <a16:creationId xmlns:a16="http://schemas.microsoft.com/office/drawing/2014/main" id="{9D258E93-852C-B444-92BA-E62EF7D5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2" y="4815443"/>
            <a:ext cx="3671888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192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FD88-EA57-224A-B19E-1D926149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Актер (</a:t>
            </a:r>
            <a:r>
              <a:rPr lang="ru-RU" altLang="ru-RU" dirty="0" err="1"/>
              <a:t>actor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5708-5317-F647-8EB9-181CE8EC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Любая внешняя по отношению к проектируемой системе сущность, которая взаимодействует с системой и использует ее функциональные возможности для достижения определенных целей или решения частных задач</a:t>
            </a:r>
          </a:p>
          <a:p>
            <a:r>
              <a:rPr lang="ru-RU" altLang="ru-RU" dirty="0"/>
              <a:t>Примеры актеров: кассир, клиент банка, банковский служащий, президент, продавец магазина, менеджер отдела продаж, пассажир авиарейса, водитель автомобиля, администратор гостиницы, сотовый телефон</a:t>
            </a:r>
          </a:p>
          <a:p>
            <a:endParaRPr lang="ru-RU" dirty="0"/>
          </a:p>
        </p:txBody>
      </p:sp>
      <p:pic>
        <p:nvPicPr>
          <p:cNvPr id="4" name="Picture 6" descr="Рис_03_4а">
            <a:extLst>
              <a:ext uri="{FF2B5EF4-FFF2-40B4-BE49-F238E27FC236}">
                <a16:creationId xmlns:a16="http://schemas.microsoft.com/office/drawing/2014/main" id="{409BFBEA-9268-5840-B034-6010F8956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712" y="4972050"/>
            <a:ext cx="14620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301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0498-D028-4849-8640-E51AF8BB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Вопросы для идентификации актеров в системе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B2A5B-26F7-EB40-ABC6-862893C5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Какие организации или лица будут использовать систему</a:t>
            </a:r>
          </a:p>
          <a:p>
            <a:r>
              <a:rPr lang="ru-RU" altLang="ru-RU" dirty="0"/>
              <a:t>Кто будет получать пользу от использования системы</a:t>
            </a:r>
          </a:p>
          <a:p>
            <a:r>
              <a:rPr lang="ru-RU" altLang="ru-RU" dirty="0"/>
              <a:t>Кто будет использовать информацию от системы</a:t>
            </a:r>
          </a:p>
          <a:p>
            <a:r>
              <a:rPr lang="ru-RU" altLang="ru-RU" dirty="0"/>
              <a:t>Будет ли использовать система внешние ресурсы</a:t>
            </a:r>
          </a:p>
          <a:p>
            <a:r>
              <a:rPr lang="ru-RU" altLang="ru-RU" dirty="0"/>
              <a:t>Может ли один пользователь играть несколько ролей при взаимодействии с системой</a:t>
            </a:r>
          </a:p>
          <a:p>
            <a:r>
              <a:rPr lang="ru-RU" altLang="ru-RU" dirty="0"/>
              <a:t>Могут ли различные пользователи играть одну роль при взаимодействии с системой</a:t>
            </a:r>
          </a:p>
        </p:txBody>
      </p:sp>
    </p:spTree>
    <p:extLst>
      <p:ext uri="{BB962C8B-B14F-4D97-AF65-F5344CB8AC3E}">
        <p14:creationId xmlns:p14="http://schemas.microsoft.com/office/powerpoint/2010/main" val="123292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871D-F8AA-E441-9BF1-0C7C246A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Отношения на диаграмме вариантов использования </a:t>
            </a:r>
            <a:endParaRPr lang="ru-RU" dirty="0"/>
          </a:p>
        </p:txBody>
      </p:sp>
      <p:pic>
        <p:nvPicPr>
          <p:cNvPr id="4" name="Content Placeholder 3" descr="UC_03">
            <a:extLst>
              <a:ext uri="{FF2B5EF4-FFF2-40B4-BE49-F238E27FC236}">
                <a16:creationId xmlns:a16="http://schemas.microsoft.com/office/drawing/2014/main" id="{2CB8F914-9E4F-9245-85BF-5588495151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375" y="2094611"/>
            <a:ext cx="7927249" cy="4316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915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DADF-891D-774E-A745-4FE9D7D1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ассоциации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A7A-CDB8-724D-9D11-634F7C2E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altLang="ru-RU" dirty="0"/>
              <a:t>Ассоциация (</a:t>
            </a:r>
            <a:r>
              <a:rPr lang="ru-RU" altLang="ru-RU" dirty="0" err="1"/>
              <a:t>association</a:t>
            </a:r>
            <a:r>
              <a:rPr lang="ru-RU" altLang="ru-RU" dirty="0"/>
              <a:t>) является одним из фундаментальных понятий в языке UML 2.х и может использоваться на различных канонических диаграммах при построении визуальных моделей</a:t>
            </a:r>
          </a:p>
          <a:p>
            <a:pPr algn="just"/>
            <a:r>
              <a:rPr lang="ru-RU" altLang="ru-RU" dirty="0"/>
              <a:t>Применительно к диаграммам вариантов использования отношение ассоциации может служить только для обозначения взаимодействия актера с вариантом использования. </a:t>
            </a:r>
          </a:p>
        </p:txBody>
      </p:sp>
      <p:pic>
        <p:nvPicPr>
          <p:cNvPr id="4" name="Picture 5" descr="Рис_03_6">
            <a:extLst>
              <a:ext uri="{FF2B5EF4-FFF2-40B4-BE49-F238E27FC236}">
                <a16:creationId xmlns:a16="http://schemas.microsoft.com/office/drawing/2014/main" id="{F8082F40-81C5-C842-AAF8-B2E74E221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4" y="4797425"/>
            <a:ext cx="5807075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978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079B-FE87-3848-8A86-E62C3791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включения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A0D4-1648-8041-B7A1-EBEFF8F42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altLang="ru-RU" dirty="0"/>
              <a:t>Отношение зависимости (</a:t>
            </a:r>
            <a:r>
              <a:rPr lang="ru-RU" altLang="ru-RU" dirty="0" err="1"/>
              <a:t>dependency</a:t>
            </a:r>
            <a:r>
              <a:rPr lang="ru-RU" altLang="ru-RU" dirty="0"/>
              <a:t>) определяется как форма взаимосвязи между двумя элементами модели, предназначенная для спецификации того обстоятельства, что изменение одного элемента модели приводит к изменению некоторого другого элемента</a:t>
            </a:r>
          </a:p>
          <a:p>
            <a:pPr algn="just"/>
            <a:r>
              <a:rPr lang="ru-RU" altLang="ru-RU" dirty="0"/>
              <a:t>Отношение включения (</a:t>
            </a:r>
            <a:r>
              <a:rPr lang="ru-RU" altLang="ru-RU" dirty="0" err="1"/>
              <a:t>include</a:t>
            </a:r>
            <a:r>
              <a:rPr lang="ru-RU" altLang="ru-RU" dirty="0"/>
              <a:t>) специфицирует тот факт, что некоторый вариант использования содержит поведение, определенное в другом варианте использования</a:t>
            </a:r>
          </a:p>
        </p:txBody>
      </p:sp>
      <p:pic>
        <p:nvPicPr>
          <p:cNvPr id="4" name="Picture 4" descr="Рис_03_8">
            <a:extLst>
              <a:ext uri="{FF2B5EF4-FFF2-40B4-BE49-F238E27FC236}">
                <a16:creationId xmlns:a16="http://schemas.microsoft.com/office/drawing/2014/main" id="{ACE2F160-AEBF-EF41-9320-4A30ECEA3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5094289"/>
            <a:ext cx="6659563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0208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34F-7FE5-3146-B2EF-F92FF581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расширения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55F20-9B95-AB42-B1FD-168C92DE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Отношение расширения (</a:t>
            </a:r>
            <a:r>
              <a:rPr lang="ru-RU" altLang="ru-RU" dirty="0" err="1"/>
              <a:t>extend</a:t>
            </a:r>
            <a:r>
              <a:rPr lang="ru-RU" altLang="ru-RU" dirty="0"/>
              <a:t>) определяет взаимосвязь одного варианта использования с некоторым другим вариантом использования, функциональность или поведение которого задействуется первым не всегда, а только при выполнении некоторых дополнительных условий.</a:t>
            </a:r>
          </a:p>
        </p:txBody>
      </p:sp>
      <p:pic>
        <p:nvPicPr>
          <p:cNvPr id="4" name="Picture 1028" descr="Рис_03_9">
            <a:extLst>
              <a:ext uri="{FF2B5EF4-FFF2-40B4-BE49-F238E27FC236}">
                <a16:creationId xmlns:a16="http://schemas.microsoft.com/office/drawing/2014/main" id="{28AF7BBF-1029-C14C-96C2-098A4D06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6" y="4277082"/>
            <a:ext cx="5896705" cy="1371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Рис_03_11">
            <a:extLst>
              <a:ext uri="{FF2B5EF4-FFF2-40B4-BE49-F238E27FC236}">
                <a16:creationId xmlns:a16="http://schemas.microsoft.com/office/drawing/2014/main" id="{DE328A8A-0D2C-2846-B4B2-9F09ACD1A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336" y="4277082"/>
            <a:ext cx="5285809" cy="246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588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1D4F-A61C-B84D-932C-EA5798A2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обобщения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5790-560C-5145-B838-9E178E79B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Отношение обобщения (</a:t>
            </a:r>
            <a:r>
              <a:rPr lang="ru-RU" altLang="ru-RU" dirty="0" err="1"/>
              <a:t>generalization</a:t>
            </a:r>
            <a:r>
              <a:rPr lang="ru-RU" altLang="ru-RU" dirty="0"/>
              <a:t> </a:t>
            </a:r>
            <a:r>
              <a:rPr lang="ru-RU" altLang="ru-RU" dirty="0" err="1"/>
              <a:t>relationship</a:t>
            </a:r>
            <a:r>
              <a:rPr lang="ru-RU" altLang="ru-RU" dirty="0"/>
              <a:t>) предназначено для спецификации того факта, что один элемент модели является специальным или частным случаем другого элемента модели</a:t>
            </a:r>
          </a:p>
        </p:txBody>
      </p:sp>
      <p:pic>
        <p:nvPicPr>
          <p:cNvPr id="4" name="Picture 6" descr="Рис_03_13">
            <a:extLst>
              <a:ext uri="{FF2B5EF4-FFF2-40B4-BE49-F238E27FC236}">
                <a16:creationId xmlns:a16="http://schemas.microsoft.com/office/drawing/2014/main" id="{468D6948-0AC7-E14B-B585-95AECA1C5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381" y="3880884"/>
            <a:ext cx="4313238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3742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</a:t>
            </a:r>
            <a:r>
              <a:rPr lang="en-US" dirty="0"/>
              <a:t>Use Case </a:t>
            </a:r>
            <a:r>
              <a:rPr lang="ru-RU" dirty="0"/>
              <a:t>диаграмму для системы онлайн-экзаменов.</a:t>
            </a:r>
          </a:p>
          <a:p>
            <a:r>
              <a:rPr lang="ru-RU" dirty="0"/>
              <a:t>Описание системы:</a:t>
            </a:r>
          </a:p>
          <a:p>
            <a:pPr lvl="1"/>
            <a:r>
              <a:rPr lang="ru-RU" dirty="0"/>
              <a:t>Экзаменатор перед запуском экзамена должен сперва подготовить банк вопросов (в частности, вопросы по </a:t>
            </a:r>
            <a:r>
              <a:rPr lang="en-US" dirty="0"/>
              <a:t>Java </a:t>
            </a:r>
            <a:r>
              <a:rPr lang="ru-RU" dirty="0"/>
              <a:t>и вопросы по </a:t>
            </a:r>
            <a:r>
              <a:rPr lang="en-US" dirty="0"/>
              <a:t>C#)</a:t>
            </a:r>
            <a:endParaRPr lang="ru-RU" dirty="0"/>
          </a:p>
          <a:p>
            <a:pPr lvl="1"/>
            <a:r>
              <a:rPr lang="ru-RU" dirty="0"/>
              <a:t>Когда экзаменационные вопросы готовы, он может запустить экзамен, а также впоследствии отменить его в любой момент</a:t>
            </a:r>
          </a:p>
          <a:p>
            <a:pPr lvl="1"/>
            <a:r>
              <a:rPr lang="ru-RU" dirty="0"/>
              <a:t>Студент может сдать экзамен, только получив разрешения на старт работы от экзаменатора</a:t>
            </a:r>
          </a:p>
          <a:p>
            <a:pPr lvl="1"/>
            <a:r>
              <a:rPr lang="ru-RU" dirty="0"/>
              <a:t>Сдача экзамена включает в себя загрузку выполненной работы в систему</a:t>
            </a:r>
          </a:p>
          <a:p>
            <a:pPr lvl="1"/>
            <a:r>
              <a:rPr lang="ru-RU" dirty="0"/>
              <a:t>Студент может в любое время посмотреть результаты своих прошедших экзаменов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8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966</Words>
  <Application>Microsoft Office PowerPoint</Application>
  <PresentationFormat>Широкоэкранный</PresentationFormat>
  <Paragraphs>156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Akrobat Bold</vt:lpstr>
      <vt:lpstr>Akrobat ExtraBold</vt:lpstr>
      <vt:lpstr>Arial</vt:lpstr>
      <vt:lpstr>Calibri</vt:lpstr>
      <vt:lpstr>Calibri Light</vt:lpstr>
      <vt:lpstr>Wingdings</vt:lpstr>
      <vt:lpstr>Office Theme</vt:lpstr>
      <vt:lpstr>Диаграммы UML </vt:lpstr>
      <vt:lpstr>UML</vt:lpstr>
      <vt:lpstr>Проектирование</vt:lpstr>
      <vt:lpstr>UML(Unified Modeling Language)</vt:lpstr>
      <vt:lpstr>Кто может использовать UML</vt:lpstr>
      <vt:lpstr>Плюсы</vt:lpstr>
      <vt:lpstr>Минусы</vt:lpstr>
      <vt:lpstr>Типы диаграмм</vt:lpstr>
      <vt:lpstr>Типы диаграмм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вариантов использования (Use Case Diagram)</vt:lpstr>
      <vt:lpstr>Пример Use Case Diagram</vt:lpstr>
      <vt:lpstr>Назначение диаграммы вариантов использования</vt:lpstr>
      <vt:lpstr>Прецеденты</vt:lpstr>
      <vt:lpstr>Основные обозначения на диаграмме вариантов использования</vt:lpstr>
      <vt:lpstr>Вариант использования (use case)</vt:lpstr>
      <vt:lpstr>Актер (actor)</vt:lpstr>
      <vt:lpstr>Вопросы для идентификации актеров в системе</vt:lpstr>
      <vt:lpstr>Отношения на диаграмме вариантов использования </vt:lpstr>
      <vt:lpstr>Отношение ассоциации </vt:lpstr>
      <vt:lpstr>Отношение включения </vt:lpstr>
      <vt:lpstr>Отношение расширения </vt:lpstr>
      <vt:lpstr>Отношение обобщения </vt:lpstr>
      <vt:lpstr>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Пользователь Microsoft Office</dc:creator>
  <cp:lastModifiedBy>uzer</cp:lastModifiedBy>
  <cp:revision>47</cp:revision>
  <dcterms:created xsi:type="dcterms:W3CDTF">2020-08-09T20:41:48Z</dcterms:created>
  <dcterms:modified xsi:type="dcterms:W3CDTF">2022-09-10T05:57:49Z</dcterms:modified>
</cp:coreProperties>
</file>