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4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A91A1-E148-4B6C-BFB3-F757ADB6F0EF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6D412-6FF0-4F77-821E-2E084E51E5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714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436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350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99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8712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90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2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734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08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77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695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370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417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297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082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297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366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802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61DA7-B76D-4CDD-A25C-C0DD13B167CE}" type="datetimeFigureOut">
              <a:rPr lang="ru-RU" smtClean="0"/>
              <a:t>17.09.2022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F1E9F-5C07-49AE-8DD7-C35B4A1053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70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000" dirty="0" smtClean="0"/>
              <a:t>Диаграмма состояний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32083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7D31-CDDA-1241-A4AC-3EDE3264A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состояний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9164C-D3CB-FF44-893D-3AE469FE5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Диаграммы состояний (</a:t>
            </a:r>
            <a:r>
              <a:rPr lang="en-US" dirty="0"/>
              <a:t>state machine diagrams) – </a:t>
            </a:r>
            <a:r>
              <a:rPr lang="ru-RU" dirty="0"/>
              <a:t>это известная технология описания поведения системы. В объектно-ориентированных подходах мы рисуем диаграмму состояний единственного класса, чтобы показать поведение одного объекта в течение его жизни.</a:t>
            </a:r>
          </a:p>
          <a:p>
            <a:r>
              <a:rPr lang="ru-RU" dirty="0"/>
              <a:t>Диаграмма описывает все возможные состояния, в которые может попасть конкретный объект, и то, как состояние объекта изменяется в результате событий, которые наступают для объекта.</a:t>
            </a:r>
          </a:p>
          <a:p>
            <a:r>
              <a:rPr lang="ru-RU" dirty="0"/>
              <a:t>Когда разработчики говорят об объектах, они часто ссылаются на состояние объектов, имея в виду комбинацию всех данных, содержащихся в полях объектов. Однако состояние на диаграмме конечного автомата является более абстрактным понятием состояния; суть в том, что различные состояния предполагают различные способы реакции на события.</a:t>
            </a:r>
          </a:p>
        </p:txBody>
      </p:sp>
    </p:spTree>
    <p:extLst>
      <p:ext uri="{BB962C8B-B14F-4D97-AF65-F5344CB8AC3E}">
        <p14:creationId xmlns:p14="http://schemas.microsoft.com/office/powerpoint/2010/main" val="138146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AB2A-456C-6D46-AE6B-FAC5FB645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0E1E4-7E57-174B-91FD-12A5E02B9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24286" cy="4351338"/>
          </a:xfrm>
        </p:spPr>
        <p:txBody>
          <a:bodyPr/>
          <a:lstStyle/>
          <a:p>
            <a:r>
              <a:rPr lang="ru-RU" dirty="0"/>
              <a:t>На диаграмме показаны различные состояния заказа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236C39-C7DF-2E41-83F6-AA32D4E08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565" y="655821"/>
            <a:ext cx="6468435" cy="573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42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E4FC2-4550-6A40-89BC-707D2D263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Состояния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39020-CEF9-AE4B-BAFA-18431F7DCB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Диаграмма состояния начинается с помощью </a:t>
            </a:r>
            <a:r>
              <a:rPr lang="ru-RU" b="1" dirty="0"/>
              <a:t>начального </a:t>
            </a:r>
            <a:r>
              <a:rPr lang="ru-RU" b="1" dirty="0" err="1"/>
              <a:t>псевдосостояния</a:t>
            </a:r>
            <a:r>
              <a:rPr lang="ru-RU" b="1" dirty="0"/>
              <a:t> </a:t>
            </a:r>
            <a:r>
              <a:rPr lang="ru-RU" dirty="0"/>
              <a:t>(</a:t>
            </a:r>
            <a:r>
              <a:rPr lang="en-US" dirty="0"/>
              <a:t>initial </a:t>
            </a:r>
            <a:r>
              <a:rPr lang="en-US" dirty="0" err="1"/>
              <a:t>pseudostate</a:t>
            </a:r>
            <a:r>
              <a:rPr lang="en-US" dirty="0"/>
              <a:t>), </a:t>
            </a:r>
            <a:r>
              <a:rPr lang="ru-RU" dirty="0"/>
              <a:t>которое не является состоянием, но имеет стрелку, указывающую на начальное состояние.</a:t>
            </a:r>
          </a:p>
          <a:p>
            <a:r>
              <a:rPr lang="ru-RU" dirty="0"/>
              <a:t>На диаграмме отображаются состояния, в которых объект находится продолжительное количество времени. Состояние может быть прервано в результате наступления некоторого события</a:t>
            </a:r>
            <a:endParaRPr lang="en-US" dirty="0"/>
          </a:p>
          <a:p>
            <a:r>
              <a:rPr lang="ru-RU" dirty="0"/>
              <a:t>Обычно в состояниях объект молчит и ожидает следующего события, прежде чем что</a:t>
            </a:r>
            <a:r>
              <a:rPr lang="en-US" dirty="0"/>
              <a:t>-</a:t>
            </a:r>
            <a:r>
              <a:rPr lang="ru-RU" dirty="0" err="1"/>
              <a:t>нибудь</a:t>
            </a:r>
            <a:r>
              <a:rPr lang="ru-RU" dirty="0"/>
              <a:t> сделать. Однако возможны состояния, в которых объект проявляет некоторую активность.</a:t>
            </a:r>
          </a:p>
        </p:txBody>
      </p:sp>
    </p:spTree>
    <p:extLst>
      <p:ext uri="{BB962C8B-B14F-4D97-AF65-F5344CB8AC3E}">
        <p14:creationId xmlns:p14="http://schemas.microsoft.com/office/powerpoint/2010/main" val="3274090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9464-3C18-E641-BD94-8501FFFB2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Внутренние активности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75623-29AD-894E-9135-D8866AE94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В некоторых состояниях объект молчит и ожидает следующего события, прежде чем что-нибудь сделать. Однако возможны состояния, в которых объект проявляет некоторую активность.</a:t>
            </a:r>
          </a:p>
          <a:p>
            <a:r>
              <a:rPr lang="ru-RU" dirty="0"/>
              <a:t>Состояния могут реагировать на события без совершения перехода, используя </a:t>
            </a:r>
            <a:r>
              <a:rPr lang="ru-RU" b="1" dirty="0"/>
              <a:t>внутренние активности </a:t>
            </a:r>
            <a:r>
              <a:rPr lang="ru-RU" dirty="0"/>
              <a:t>(</a:t>
            </a:r>
            <a:r>
              <a:rPr lang="en-US" dirty="0"/>
              <a:t>internal activities), </a:t>
            </a:r>
            <a:r>
              <a:rPr lang="ru-RU" dirty="0"/>
              <a:t>и в этом случае действия размещаются внутри прямоугольника состояния.</a:t>
            </a:r>
          </a:p>
          <a:p>
            <a:r>
              <a:rPr lang="ru-RU" dirty="0"/>
              <a:t>Список основных действий включает следующие значения:</a:t>
            </a:r>
          </a:p>
          <a:p>
            <a:pPr lvl="1" fontAlgn="base"/>
            <a:r>
              <a:rPr lang="en-US" dirty="0"/>
              <a:t>entry - </a:t>
            </a:r>
            <a:r>
              <a:rPr lang="ru-RU" dirty="0"/>
              <a:t>действие, которое выполняется в момент входа в данное состояние (входное действие);</a:t>
            </a:r>
          </a:p>
          <a:p>
            <a:pPr lvl="1" fontAlgn="base"/>
            <a:r>
              <a:rPr lang="en-US" dirty="0"/>
              <a:t>exit - </a:t>
            </a:r>
            <a:r>
              <a:rPr lang="ru-RU" dirty="0"/>
              <a:t>действие, которое выполняется в момент выхода из данного состояния (выходное действие);</a:t>
            </a:r>
          </a:p>
          <a:p>
            <a:pPr lvl="1" fontAlgn="base"/>
            <a:r>
              <a:rPr lang="en-US" dirty="0"/>
              <a:t>do - </a:t>
            </a:r>
            <a:r>
              <a:rPr lang="ru-RU" dirty="0"/>
              <a:t>выполняющаяся деятельность ("</a:t>
            </a:r>
            <a:r>
              <a:rPr lang="en-US" dirty="0"/>
              <a:t>do activity") </a:t>
            </a:r>
            <a:r>
              <a:rPr lang="ru-RU" dirty="0"/>
              <a:t>в течение всего времени, пока объект находится в данном состоянии</a:t>
            </a:r>
          </a:p>
        </p:txBody>
      </p:sp>
    </p:spTree>
    <p:extLst>
      <p:ext uri="{BB962C8B-B14F-4D97-AF65-F5344CB8AC3E}">
        <p14:creationId xmlns:p14="http://schemas.microsoft.com/office/powerpoint/2010/main" val="194696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A97DE-8C70-6E43-9265-35FAB25EB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Переходы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4A6EC-028A-7249-A384-7E670A1F6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Переход (</a:t>
            </a:r>
            <a:r>
              <a:rPr lang="en-US" dirty="0"/>
              <a:t>transition) </a:t>
            </a:r>
            <a:r>
              <a:rPr lang="ru-RU" dirty="0"/>
              <a:t>означает перемещение из одного состояния в другое, которые представлены в виде переходов – линий, связывающих состояния.</a:t>
            </a:r>
          </a:p>
          <a:p>
            <a:r>
              <a:rPr lang="ru-RU" dirty="0" err="1"/>
              <a:t>Каждыи</a:t>
            </a:r>
            <a:r>
              <a:rPr lang="ru-RU" dirty="0"/>
              <a:t>̆ переход имеет свою метку, которая состоит из нескольких необязательных </a:t>
            </a:r>
            <a:r>
              <a:rPr lang="ru-RU" dirty="0" err="1"/>
              <a:t>частеи</a:t>
            </a:r>
            <a:r>
              <a:rPr lang="ru-RU" dirty="0"/>
              <a:t>̆:</a:t>
            </a:r>
          </a:p>
          <a:p>
            <a:pPr marL="0" indent="0">
              <a:buNone/>
            </a:pPr>
            <a:r>
              <a:rPr lang="en-US" b="1" i="1" dirty="0"/>
              <a:t>Event [Guard] / Action</a:t>
            </a:r>
            <a:r>
              <a:rPr lang="ru-RU" dirty="0"/>
              <a:t>, где</a:t>
            </a:r>
          </a:p>
          <a:p>
            <a:pPr lvl="1" fontAlgn="base"/>
            <a:r>
              <a:rPr lang="en-US" b="1" dirty="0"/>
              <a:t>event</a:t>
            </a:r>
            <a:r>
              <a:rPr lang="ru-RU" b="1" dirty="0"/>
              <a:t> </a:t>
            </a:r>
            <a:r>
              <a:rPr lang="ru-RU" dirty="0"/>
              <a:t>– это единственное событие, которое может вызвать изменение состояния</a:t>
            </a:r>
          </a:p>
          <a:p>
            <a:pPr lvl="1" fontAlgn="base"/>
            <a:r>
              <a:rPr lang="en-US" b="1" dirty="0"/>
              <a:t>guard </a:t>
            </a:r>
            <a:r>
              <a:rPr lang="en-US" dirty="0"/>
              <a:t>– </a:t>
            </a:r>
            <a:r>
              <a:rPr lang="ru-RU" dirty="0"/>
              <a:t>это </a:t>
            </a:r>
            <a:r>
              <a:rPr lang="ru-RU" b="1" dirty="0"/>
              <a:t>защита</a:t>
            </a:r>
            <a:r>
              <a:rPr lang="ru-RU" dirty="0"/>
              <a:t>, если она указана, представляет </a:t>
            </a:r>
            <a:r>
              <a:rPr lang="ru-RU" dirty="0" err="1"/>
              <a:t>собои</a:t>
            </a:r>
            <a:r>
              <a:rPr lang="ru-RU" dirty="0"/>
              <a:t>̆ логическое условие, которое должно быть выполнено, чтобы переход мог произойти</a:t>
            </a:r>
          </a:p>
          <a:p>
            <a:pPr lvl="1" fontAlgn="base"/>
            <a:r>
              <a:rPr lang="en-US" b="1" dirty="0"/>
              <a:t>action</a:t>
            </a:r>
            <a:r>
              <a:rPr lang="ru-RU" b="1" dirty="0"/>
              <a:t> </a:t>
            </a:r>
            <a:r>
              <a:rPr lang="ru-RU" dirty="0"/>
              <a:t>– это некоторое поведение системы во время перехода</a:t>
            </a:r>
          </a:p>
          <a:p>
            <a:r>
              <a:rPr lang="ru-RU" dirty="0"/>
              <a:t>Пропуск активности означает, что в процессе перехода ничего не происходит. Пропуск защиты означает, что переход всегда осуществляется, если происходит инициирующее событие. Триггер-идентификатор отсутствует редко, но и так бывает. Это означает, что переход происходит немедленно</a:t>
            </a:r>
          </a:p>
        </p:txBody>
      </p:sp>
    </p:spTree>
    <p:extLst>
      <p:ext uri="{BB962C8B-B14F-4D97-AF65-F5344CB8AC3E}">
        <p14:creationId xmlns:p14="http://schemas.microsoft.com/office/powerpoint/2010/main" val="3216504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ECE0B-EA01-2F47-988D-C48349DF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Суперсостояние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A960E-416B-C74B-8755-E5E698676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76861" cy="4351338"/>
          </a:xfrm>
        </p:spPr>
        <p:txBody>
          <a:bodyPr>
            <a:normAutofit fontScale="92500"/>
          </a:bodyPr>
          <a:lstStyle/>
          <a:p>
            <a:r>
              <a:rPr lang="ru-RU" dirty="0"/>
              <a:t>Часто бывает, что несколько состояний имеют общие переходы и внутренние активности. В таких случаях можно их превратить в </a:t>
            </a:r>
            <a:r>
              <a:rPr lang="ru-RU" dirty="0" err="1"/>
              <a:t>подсостояния</a:t>
            </a:r>
            <a:r>
              <a:rPr lang="ru-RU" dirty="0"/>
              <a:t> (</a:t>
            </a:r>
            <a:r>
              <a:rPr lang="en-US" dirty="0" err="1"/>
              <a:t>substates</a:t>
            </a:r>
            <a:r>
              <a:rPr lang="en-US" dirty="0"/>
              <a:t>), </a:t>
            </a:r>
            <a:r>
              <a:rPr lang="ru-RU" dirty="0"/>
              <a:t>а общее поведение перенести в </a:t>
            </a:r>
            <a:r>
              <a:rPr lang="ru-RU" dirty="0" err="1"/>
              <a:t>суперсостояние</a:t>
            </a:r>
            <a:r>
              <a:rPr lang="ru-RU" dirty="0"/>
              <a:t> (</a:t>
            </a:r>
            <a:r>
              <a:rPr lang="en-US" dirty="0" err="1"/>
              <a:t>superstate</a:t>
            </a:r>
            <a:r>
              <a:rPr lang="en-US" dirty="0"/>
              <a:t>).</a:t>
            </a:r>
            <a:endParaRPr lang="ru-RU" dirty="0"/>
          </a:p>
          <a:p>
            <a:r>
              <a:rPr lang="ru-RU" dirty="0"/>
              <a:t>Без </a:t>
            </a:r>
            <a:r>
              <a:rPr lang="ru-RU" dirty="0" err="1"/>
              <a:t>суперсостояния</a:t>
            </a:r>
            <a:r>
              <a:rPr lang="ru-RU" dirty="0"/>
              <a:t> пришлось бы рисовать переход </a:t>
            </a:r>
            <a:r>
              <a:rPr lang="en-US" dirty="0"/>
              <a:t>cancel (</a:t>
            </a:r>
            <a:r>
              <a:rPr lang="ru-RU" dirty="0"/>
              <a:t>отмена) для всех трех состояний внутри </a:t>
            </a:r>
            <a:r>
              <a:rPr lang="ru-RU" dirty="0" err="1"/>
              <a:t>суперсостояния</a:t>
            </a:r>
            <a:r>
              <a:rPr lang="ru-RU" dirty="0"/>
              <a:t> </a:t>
            </a:r>
          </a:p>
        </p:txBody>
      </p:sp>
      <p:pic>
        <p:nvPicPr>
          <p:cNvPr id="14337" name="Picture 1" descr="page139image56851488">
            <a:extLst>
              <a:ext uri="{FF2B5EF4-FFF2-40B4-BE49-F238E27FC236}">
                <a16:creationId xmlns:a16="http://schemas.microsoft.com/office/drawing/2014/main" id="{2A49FDAC-4187-1140-A68F-2CA0F5339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987" y="0"/>
            <a:ext cx="5815013" cy="6799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4419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41519-DBDD-8C40-BD54-8F269B8F0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Самопереход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C5F29-D1E6-A64F-9F1D-59290BA3D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</a:t>
            </a:r>
            <a:r>
              <a:rPr lang="ru-RU" b="1" dirty="0" err="1"/>
              <a:t>амопереход</a:t>
            </a:r>
            <a:r>
              <a:rPr lang="ru-RU" b="1" dirty="0"/>
              <a:t> </a:t>
            </a:r>
            <a:r>
              <a:rPr lang="ru-RU" dirty="0"/>
              <a:t>(</a:t>
            </a:r>
            <a:r>
              <a:rPr lang="en-US" dirty="0"/>
              <a:t>self</a:t>
            </a:r>
            <a:r>
              <a:rPr lang="ru-RU" dirty="0"/>
              <a:t>-</a:t>
            </a:r>
            <a:r>
              <a:rPr lang="en-US" dirty="0"/>
              <a:t>transition) – </a:t>
            </a:r>
            <a:r>
              <a:rPr lang="ru-RU" dirty="0"/>
              <a:t>это переход, </a:t>
            </a:r>
            <a:r>
              <a:rPr lang="ru-RU" dirty="0" err="1"/>
              <a:t>которыи</a:t>
            </a:r>
            <a:r>
              <a:rPr lang="ru-RU" dirty="0"/>
              <a:t>̆ возвращает объект в то же самое состояние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06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1" name="Picture 1" descr="page143image57583360">
            <a:extLst>
              <a:ext uri="{FF2B5EF4-FFF2-40B4-BE49-F238E27FC236}">
                <a16:creationId xmlns:a16="http://schemas.microsoft.com/office/drawing/2014/main" id="{C6E499A8-C5B6-E442-A3B5-C16A8C423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299" y="0"/>
            <a:ext cx="605570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809CC6-7A89-C04D-A09F-A4018E11B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Параллельные состояния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6F280-2E30-054D-956F-AEC7D5AA6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98099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Параллельные разделы диаграммы состояний - это места, в которых в любой точке данный порядок находится в двух разных состояниях.</a:t>
            </a:r>
          </a:p>
          <a:p>
            <a:r>
              <a:rPr lang="ru-RU" dirty="0"/>
              <a:t>Когда заказ выходит из параллельных состояний, он находится только в одном состоянии. Мы видим, что заказ запускается как в состояние проверки, так и в состояние авторизации.</a:t>
            </a:r>
          </a:p>
        </p:txBody>
      </p:sp>
    </p:spTree>
    <p:extLst>
      <p:ext uri="{BB962C8B-B14F-4D97-AF65-F5344CB8AC3E}">
        <p14:creationId xmlns:p14="http://schemas.microsoft.com/office/powerpoint/2010/main" val="676883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94E8-6AE7-BB4A-A485-24A0AD0C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91993-14B6-2D43-A34A-4B3A2DC54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Создать диаграмму состояний для системы бронирования.</a:t>
            </a:r>
          </a:p>
          <a:p>
            <a:r>
              <a:rPr lang="ru-RU" dirty="0"/>
              <a:t>Описание системы:</a:t>
            </a:r>
          </a:p>
          <a:p>
            <a:pPr lvl="1"/>
            <a:r>
              <a:rPr lang="ru-RU" dirty="0"/>
              <a:t>Пользователь может в любое время забронировать доступные билеты</a:t>
            </a:r>
          </a:p>
          <a:p>
            <a:pPr lvl="1"/>
            <a:r>
              <a:rPr lang="ru-RU" dirty="0"/>
              <a:t>Если после бронирования в течение определенного времени не произошла оплата, то бронирование отменяется</a:t>
            </a:r>
          </a:p>
          <a:p>
            <a:pPr lvl="1"/>
            <a:r>
              <a:rPr lang="ru-RU" dirty="0"/>
              <a:t>Также бронирование может быть отменено самим пользователем</a:t>
            </a:r>
          </a:p>
          <a:p>
            <a:pPr lvl="1"/>
            <a:r>
              <a:rPr lang="ru-RU" dirty="0"/>
              <a:t>Уже приобретенные билеты можно обменять на другие доступные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1326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8350-A8A5-7C4C-AF37-F959BACA1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D0FBF2E-D78C-2A4D-9B49-1DD8A092E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5098" y="2269516"/>
            <a:ext cx="75565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49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631</Words>
  <Application>Microsoft Office PowerPoint</Application>
  <PresentationFormat>Широкоэкранный</PresentationFormat>
  <Paragraphs>47</Paragraphs>
  <Slides>11</Slides>
  <Notes>6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Презентация PowerPoint</vt:lpstr>
      <vt:lpstr>Диаграмма состояний</vt:lpstr>
      <vt:lpstr>Пример</vt:lpstr>
      <vt:lpstr>Состояния</vt:lpstr>
      <vt:lpstr>Внутренние активности</vt:lpstr>
      <vt:lpstr>Переходы</vt:lpstr>
      <vt:lpstr>Суперсостояние</vt:lpstr>
      <vt:lpstr>Самопереход</vt:lpstr>
      <vt:lpstr>Параллельные состояния</vt:lpstr>
      <vt:lpstr>ПРАКТИКА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МДК 02.01 Технология разработки ПО</dc:title>
  <dc:creator>uzer</dc:creator>
  <cp:lastModifiedBy>uzer</cp:lastModifiedBy>
  <cp:revision>2</cp:revision>
  <dcterms:created xsi:type="dcterms:W3CDTF">2022-01-31T10:56:26Z</dcterms:created>
  <dcterms:modified xsi:type="dcterms:W3CDTF">2022-09-17T07:47:44Z</dcterms:modified>
</cp:coreProperties>
</file>