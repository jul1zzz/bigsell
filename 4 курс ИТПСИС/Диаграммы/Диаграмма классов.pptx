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3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B0F89-D028-4CCA-A2E8-6BA3979AE1B2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94C98-ABA4-4BC2-A513-3BBAE5081B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9395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80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794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2026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9026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0961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2162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7509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09495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43241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243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D03484-80F9-1F44-91B1-5F0FAAAD149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6673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06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0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58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1222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6048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5088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2719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426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92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358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5839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D81E7-8A91-4FB8-905E-2335B67DF9A8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093B63-6F47-4377-9810-8AD482037C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3762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Диаграмма классов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68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B268-ACA3-7D4D-AE73-F6C59607D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7FEB-5403-8A44-958D-C13F26930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Диаграмма классов </a:t>
            </a:r>
            <a:r>
              <a:rPr lang="ru-RU" dirty="0"/>
              <a:t>описывает типы объектов системы и различного рода статические отношения, которые существуют между ними. На диаграммах классов отображаются также свойства классов, операции классов и ограничения, которые накладываются на связи между объектами</a:t>
            </a:r>
          </a:p>
        </p:txBody>
      </p:sp>
    </p:spTree>
    <p:extLst>
      <p:ext uri="{BB962C8B-B14F-4D97-AF65-F5344CB8AC3E}">
        <p14:creationId xmlns:p14="http://schemas.microsoft.com/office/powerpoint/2010/main" val="3252139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8D403-5CAD-2A4B-BB8E-15C79147A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B5E1B-113D-9948-81C0-4FC2911B5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97FA16-9CE4-9D45-AEFA-40B947F7E4B7}"/>
              </a:ext>
            </a:extLst>
          </p:cNvPr>
          <p:cNvSpPr/>
          <p:nvPr/>
        </p:nvSpPr>
        <p:spPr>
          <a:xfrm>
            <a:off x="8724568" y="191386"/>
            <a:ext cx="1528762" cy="12144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C73134-A583-6D4D-9F8F-2E2CBC3630DD}"/>
              </a:ext>
            </a:extLst>
          </p:cNvPr>
          <p:cNvSpPr/>
          <p:nvPr/>
        </p:nvSpPr>
        <p:spPr>
          <a:xfrm>
            <a:off x="1133146" y="6176962"/>
            <a:ext cx="1528762" cy="607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0D065E-A6E5-5447-8EC1-05C6516EC0E2}"/>
              </a:ext>
            </a:extLst>
          </p:cNvPr>
          <p:cNvSpPr/>
          <p:nvPr/>
        </p:nvSpPr>
        <p:spPr>
          <a:xfrm>
            <a:off x="5331617" y="6123772"/>
            <a:ext cx="5169695" cy="6072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D481C-F60F-FC42-B2E5-9ADDA0A87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3932" y="0"/>
            <a:ext cx="66841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298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EC6F5-A297-8540-8EED-477A58651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51201-2308-374E-A7B8-A8017C71A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На диаграмме класс изображается в виде прямоугольника, разделенного на три части: имя класса (на английском языке), его атрибуты и его операции. </a:t>
            </a:r>
          </a:p>
          <a:p>
            <a:r>
              <a:rPr lang="ru-RU" dirty="0"/>
              <a:t>В качестве классов часто выступают сущности, использованные при построении диаграммы сущность-связь</a:t>
            </a:r>
          </a:p>
        </p:txBody>
      </p:sp>
    </p:spTree>
    <p:extLst>
      <p:ext uri="{BB962C8B-B14F-4D97-AF65-F5344CB8AC3E}">
        <p14:creationId xmlns:p14="http://schemas.microsoft.com/office/powerpoint/2010/main" val="177424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F5E7-3482-EB48-BDDE-595B2A5A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4F792-2A98-F24D-9DD2-04C5495B3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Атрибут </a:t>
            </a:r>
            <a:r>
              <a:rPr lang="ru-RU" dirty="0"/>
              <a:t>описывает свойство в виде строки текста внутри прямоугольника класса</a:t>
            </a:r>
          </a:p>
          <a:p>
            <a:r>
              <a:rPr lang="ru-RU" dirty="0"/>
              <a:t>В зависимости от детализации диаграммы, синтаксис для атрибута может включать наименование, тип, значение по умолчанию и др.</a:t>
            </a:r>
          </a:p>
          <a:p>
            <a:pPr marL="0" indent="0">
              <a:buNone/>
            </a:pPr>
            <a:r>
              <a:rPr lang="en-US" b="1" i="1" dirty="0"/>
              <a:t>visibility name: type = </a:t>
            </a:r>
            <a:r>
              <a:rPr lang="en-US" b="1" i="1" dirty="0" err="1"/>
              <a:t>defaultValue</a:t>
            </a:r>
            <a:r>
              <a:rPr lang="en-US" i="1" dirty="0"/>
              <a:t>, </a:t>
            </a:r>
          </a:p>
          <a:p>
            <a:pPr marL="0" indent="0">
              <a:buNone/>
            </a:pPr>
            <a:endParaRPr lang="ru-RU" b="1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2034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AEA17-6062-F14A-8FFF-FA301D6EF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Атрибуты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9180A-6674-144C-84FA-AFD98C125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Метка </a:t>
            </a:r>
            <a:r>
              <a:rPr lang="ru-RU" b="1" dirty="0"/>
              <a:t>видимость </a:t>
            </a:r>
            <a:r>
              <a:rPr lang="ru-RU" dirty="0"/>
              <a:t>обозначает, относится ли атрибут к открытым (</a:t>
            </a:r>
            <a:r>
              <a:rPr lang="ru-RU" b="1" dirty="0"/>
              <a:t>+</a:t>
            </a:r>
            <a:r>
              <a:rPr lang="ru-RU" dirty="0"/>
              <a:t>) (</a:t>
            </a:r>
            <a:r>
              <a:rPr lang="en-US" dirty="0"/>
              <a:t>public)</a:t>
            </a:r>
            <a:r>
              <a:rPr lang="ru-RU" dirty="0"/>
              <a:t>, к закрытым (-) (</a:t>
            </a:r>
            <a:r>
              <a:rPr lang="en-US" dirty="0"/>
              <a:t>private) </a:t>
            </a:r>
            <a:r>
              <a:rPr lang="ru-RU" dirty="0"/>
              <a:t>или к защищенным (#) (</a:t>
            </a:r>
            <a:r>
              <a:rPr lang="en-US" dirty="0"/>
              <a:t>protected</a:t>
            </a:r>
            <a:r>
              <a:rPr lang="ru-RU" dirty="0"/>
              <a:t>)</a:t>
            </a:r>
            <a:endParaRPr lang="en-US" dirty="0"/>
          </a:p>
          <a:p>
            <a:r>
              <a:rPr lang="ru-RU" b="1" dirty="0"/>
              <a:t>Имя </a:t>
            </a:r>
            <a:r>
              <a:rPr lang="ru-RU" dirty="0"/>
              <a:t>атрибута – способ ссылки класса на атрибут – приблизительно соответствует имени поля в языке программирования</a:t>
            </a:r>
          </a:p>
          <a:p>
            <a:r>
              <a:rPr lang="ru-RU" b="1" dirty="0"/>
              <a:t>Тип </a:t>
            </a:r>
            <a:r>
              <a:rPr lang="ru-RU" dirty="0"/>
              <a:t>атрибута накладывает ограничение на вид объекта, </a:t>
            </a:r>
            <a:r>
              <a:rPr lang="ru-RU" dirty="0" err="1"/>
              <a:t>которыи</a:t>
            </a:r>
            <a:r>
              <a:rPr lang="ru-RU" dirty="0"/>
              <a:t>̆ может быть размещен в атрибуте. Можно считать его аналогом типа поля в языке программирования</a:t>
            </a:r>
          </a:p>
          <a:p>
            <a:r>
              <a:rPr lang="ru-RU" b="1" dirty="0"/>
              <a:t>Значение по умолчанию </a:t>
            </a:r>
            <a:r>
              <a:rPr lang="ru-RU" dirty="0"/>
              <a:t>представляет </a:t>
            </a:r>
            <a:r>
              <a:rPr lang="ru-RU" dirty="0" err="1"/>
              <a:t>собои</a:t>
            </a:r>
            <a:r>
              <a:rPr lang="ru-RU" dirty="0"/>
              <a:t>̆ значение для вновь создаваемых объектов, если атрибут не определен в процессе создания</a:t>
            </a:r>
          </a:p>
        </p:txBody>
      </p:sp>
    </p:spTree>
    <p:extLst>
      <p:ext uri="{BB962C8B-B14F-4D97-AF65-F5344CB8AC3E}">
        <p14:creationId xmlns:p14="http://schemas.microsoft.com/office/powerpoint/2010/main" val="45148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4EA8D-7714-6A4B-A3B6-07C463DD6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1412"/>
          </a:xfrm>
        </p:spPr>
        <p:txBody>
          <a:bodyPr/>
          <a:lstStyle/>
          <a:p>
            <a:r>
              <a:rPr lang="ru-RU" dirty="0"/>
              <a:t>Операции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0FC90-FCC0-DD49-B755-B0D5C8C3A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5972"/>
            <a:ext cx="10515600" cy="3705586"/>
          </a:xfrm>
        </p:spPr>
        <p:txBody>
          <a:bodyPr>
            <a:normAutofit/>
          </a:bodyPr>
          <a:lstStyle/>
          <a:p>
            <a:r>
              <a:rPr lang="ru-RU" b="1" dirty="0"/>
              <a:t>Операции </a:t>
            </a:r>
            <a:r>
              <a:rPr lang="ru-RU" dirty="0"/>
              <a:t>(</a:t>
            </a:r>
            <a:r>
              <a:rPr lang="en-US" dirty="0"/>
              <a:t>operations) </a:t>
            </a:r>
            <a:r>
              <a:rPr lang="ru-RU" dirty="0"/>
              <a:t>представляют </a:t>
            </a:r>
            <a:r>
              <a:rPr lang="ru-RU" dirty="0" err="1"/>
              <a:t>собои</a:t>
            </a:r>
            <a:r>
              <a:rPr lang="ru-RU" dirty="0"/>
              <a:t>̆ </a:t>
            </a:r>
            <a:r>
              <a:rPr lang="ru-RU" dirty="0" err="1"/>
              <a:t>действия</a:t>
            </a:r>
            <a:r>
              <a:rPr lang="ru-RU" dirty="0"/>
              <a:t>, реализуемые некоторым классом. </a:t>
            </a:r>
          </a:p>
          <a:p>
            <a:r>
              <a:rPr lang="ru-RU" dirty="0"/>
              <a:t>Существует очевидное соответствие между операциями и методами класса. </a:t>
            </a:r>
          </a:p>
          <a:p>
            <a:r>
              <a:rPr lang="ru-RU" dirty="0"/>
              <a:t>Обычно можно не показывать такие операции, которые просто манипулируют </a:t>
            </a:r>
            <a:r>
              <a:rPr lang="ru-RU" dirty="0" err="1"/>
              <a:t>свойствами</a:t>
            </a:r>
            <a:r>
              <a:rPr lang="ru-RU" dirty="0"/>
              <a:t>, поскольку они и так подразумеваются</a:t>
            </a:r>
            <a:r>
              <a:rPr lang="ru-RU" dirty="0" smtClean="0"/>
              <a:t>.</a:t>
            </a:r>
            <a:r>
              <a:rPr lang="en-US" dirty="0" smtClean="0"/>
              <a:t> Customer(</a:t>
            </a:r>
            <a:r>
              <a:rPr lang="ru-RU" dirty="0" smtClean="0"/>
              <a:t>клиент, покупатель</a:t>
            </a:r>
            <a:r>
              <a:rPr lang="en-US" dirty="0" smtClean="0"/>
              <a:t>), </a:t>
            </a:r>
            <a:r>
              <a:rPr lang="en-US" dirty="0" err="1" smtClean="0"/>
              <a:t>getCreditRating</a:t>
            </a:r>
            <a:r>
              <a:rPr lang="en-US" dirty="0" smtClean="0"/>
              <a:t>(</a:t>
            </a:r>
            <a:r>
              <a:rPr lang="ru-RU" dirty="0" smtClean="0"/>
              <a:t>получить кредитный рейтинг)</a:t>
            </a:r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3F5B73-BDE6-9E4B-9F68-A931BF02B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329" y="5131558"/>
            <a:ext cx="3768159" cy="159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87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48FD1-B99F-1D4E-AEFA-1428F1EB5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Операции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76D6C-1768-AA4F-8D34-A54895B27C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err="1"/>
              <a:t>Полныи</a:t>
            </a:r>
            <a:r>
              <a:rPr lang="ru-RU" dirty="0"/>
              <a:t>̆ синтаксис операций в языке </a:t>
            </a:r>
            <a:r>
              <a:rPr lang="en-US" dirty="0"/>
              <a:t>UML </a:t>
            </a:r>
            <a:r>
              <a:rPr lang="ru-RU" dirty="0"/>
              <a:t>выглядит следующим образом: </a:t>
            </a:r>
          </a:p>
          <a:p>
            <a:pPr marL="0" indent="0">
              <a:buNone/>
            </a:pPr>
            <a:r>
              <a:rPr lang="en-US" b="1" i="1" dirty="0"/>
              <a:t>visibility name (parameter-list) : return-type-expression {property-string}</a:t>
            </a:r>
          </a:p>
          <a:p>
            <a:pPr marL="0" indent="0">
              <a:buNone/>
            </a:pPr>
            <a:r>
              <a:rPr lang="ru-RU" dirty="0"/>
              <a:t>, где</a:t>
            </a:r>
            <a:endParaRPr lang="en-US" dirty="0"/>
          </a:p>
          <a:p>
            <a:r>
              <a:rPr lang="ru-RU" dirty="0"/>
              <a:t>Метка </a:t>
            </a:r>
            <a:r>
              <a:rPr lang="ru-RU" b="1" dirty="0"/>
              <a:t>видимости </a:t>
            </a:r>
            <a:r>
              <a:rPr lang="ru-RU" dirty="0"/>
              <a:t>обозначает, относится ли операция к открытым (</a:t>
            </a:r>
            <a:r>
              <a:rPr lang="ru-RU" b="1" dirty="0"/>
              <a:t>+</a:t>
            </a:r>
            <a:r>
              <a:rPr lang="ru-RU" dirty="0"/>
              <a:t>) (</a:t>
            </a:r>
            <a:r>
              <a:rPr lang="en-US" dirty="0"/>
              <a:t>public)</a:t>
            </a:r>
            <a:r>
              <a:rPr lang="ru-RU" dirty="0"/>
              <a:t>, к закрытым (-) (</a:t>
            </a:r>
            <a:r>
              <a:rPr lang="en-US" dirty="0"/>
              <a:t>private) </a:t>
            </a:r>
            <a:r>
              <a:rPr lang="ru-RU" dirty="0"/>
              <a:t>или защищенным (</a:t>
            </a:r>
            <a:r>
              <a:rPr lang="en-US" dirty="0"/>
              <a:t>#</a:t>
            </a:r>
            <a:r>
              <a:rPr lang="ru-RU" dirty="0"/>
              <a:t>)</a:t>
            </a:r>
            <a:r>
              <a:rPr lang="en-US" dirty="0"/>
              <a:t> (protected)</a:t>
            </a:r>
            <a:endParaRPr lang="ru-RU" dirty="0"/>
          </a:p>
          <a:p>
            <a:r>
              <a:rPr lang="ru-RU" b="1" dirty="0"/>
              <a:t>Имя</a:t>
            </a:r>
            <a:r>
              <a:rPr lang="ru-RU" dirty="0"/>
              <a:t> – это строка. </a:t>
            </a:r>
          </a:p>
          <a:p>
            <a:r>
              <a:rPr lang="ru-RU" b="1" dirty="0"/>
              <a:t>Список параметров </a:t>
            </a:r>
            <a:r>
              <a:rPr lang="ru-RU" dirty="0"/>
              <a:t>– список параметров операции (через запятую). </a:t>
            </a:r>
          </a:p>
          <a:p>
            <a:r>
              <a:rPr lang="ru-RU" b="1" dirty="0" err="1"/>
              <a:t>Возвращаемыи</a:t>
            </a:r>
            <a:r>
              <a:rPr lang="ru-RU" b="1" dirty="0"/>
              <a:t>̆ тип </a:t>
            </a:r>
            <a:r>
              <a:rPr lang="ru-RU" dirty="0"/>
              <a:t>– тип возвращаемого значения, если таковое есть. </a:t>
            </a:r>
          </a:p>
          <a:p>
            <a:r>
              <a:rPr lang="ru-RU" b="1" dirty="0"/>
              <a:t>Строка </a:t>
            </a:r>
            <a:r>
              <a:rPr lang="ru-RU" b="1" dirty="0" err="1"/>
              <a:t>свойств</a:t>
            </a:r>
            <a:r>
              <a:rPr lang="ru-RU" b="1" dirty="0"/>
              <a:t> </a:t>
            </a:r>
            <a:r>
              <a:rPr lang="ru-RU" dirty="0"/>
              <a:t>– значения </a:t>
            </a:r>
            <a:r>
              <a:rPr lang="ru-RU" dirty="0" err="1"/>
              <a:t>свойств</a:t>
            </a:r>
            <a:r>
              <a:rPr lang="ru-RU" dirty="0"/>
              <a:t>, которые применяются к </a:t>
            </a:r>
            <a:r>
              <a:rPr lang="ru-RU" dirty="0" err="1"/>
              <a:t>даннои</a:t>
            </a:r>
            <a:r>
              <a:rPr lang="ru-RU" dirty="0"/>
              <a:t>̆ операции. </a:t>
            </a:r>
            <a:endParaRPr lang="en-US" dirty="0"/>
          </a:p>
          <a:p>
            <a:endParaRPr lang="ru-RU" b="1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40B475-125B-954F-B488-4AA8D6FC5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662" y="5791391"/>
            <a:ext cx="3882542" cy="58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048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9A8C1-41C2-7A45-AFC3-92E9E1F35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4E24A-A058-F74B-89B4-1D7E4A02D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Ассоциация </a:t>
            </a:r>
            <a:r>
              <a:rPr lang="ru-RU" dirty="0"/>
              <a:t>– это отношение (непрерывная линия) между двумя классами </a:t>
            </a:r>
            <a:r>
              <a:rPr lang="en-US" dirty="0"/>
              <a:t>(</a:t>
            </a:r>
            <a:r>
              <a:rPr lang="ru-RU" dirty="0"/>
              <a:t>например, человек работает в компании; компания имеет несколько офисов)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8043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47206-A342-FB41-A658-C5814D000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Ассоциации  - Кратность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7F81A-0A5D-AD47-B489-439233A87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Кратность </a:t>
            </a:r>
            <a:r>
              <a:rPr lang="ru-RU" dirty="0" err="1"/>
              <a:t>свойства</a:t>
            </a:r>
            <a:r>
              <a:rPr lang="ru-RU" dirty="0"/>
              <a:t> обозначает количество объектов, которые могут заполнять данное </a:t>
            </a:r>
            <a:r>
              <a:rPr lang="ru-RU" dirty="0" err="1"/>
              <a:t>свойство</a:t>
            </a:r>
            <a:r>
              <a:rPr lang="ru-RU" dirty="0"/>
              <a:t>. Чаще всего встречаются следующие кратности: </a:t>
            </a:r>
          </a:p>
          <a:p>
            <a:r>
              <a:rPr lang="ru-RU" dirty="0"/>
              <a:t>1 (Заказ может представить только один клиент.) </a:t>
            </a:r>
          </a:p>
          <a:p>
            <a:r>
              <a:rPr lang="ru-RU" dirty="0"/>
              <a:t>0..1 (</a:t>
            </a:r>
            <a:r>
              <a:rPr lang="ru-RU" dirty="0" err="1"/>
              <a:t>Корпоративныи</a:t>
            </a:r>
            <a:r>
              <a:rPr lang="ru-RU" dirty="0"/>
              <a:t>̆ клиент может иметь, а может и не иметь единственного торгового представителя.) </a:t>
            </a:r>
          </a:p>
          <a:p>
            <a:r>
              <a:rPr lang="ru-RU" dirty="0"/>
              <a:t>* (Клиент не обязан размещать заказ, и количество заказов не ограничено. Он может разместить ноль или более заказов.) </a:t>
            </a:r>
          </a:p>
        </p:txBody>
      </p:sp>
    </p:spTree>
    <p:extLst>
      <p:ext uri="{BB962C8B-B14F-4D97-AF65-F5344CB8AC3E}">
        <p14:creationId xmlns:p14="http://schemas.microsoft.com/office/powerpoint/2010/main" val="4194840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85DD0-E789-3F4F-9EBE-36D6094BE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Обобщение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4106A-733C-BF47-802B-19B8DC102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Типичныи</a:t>
            </a:r>
            <a:r>
              <a:rPr lang="ru-RU" dirty="0"/>
              <a:t>̆ пример </a:t>
            </a:r>
            <a:r>
              <a:rPr lang="ru-RU" b="1" dirty="0"/>
              <a:t>обобщения </a:t>
            </a:r>
            <a:r>
              <a:rPr lang="ru-RU" dirty="0"/>
              <a:t>(</a:t>
            </a:r>
            <a:r>
              <a:rPr lang="en-US" dirty="0"/>
              <a:t>generalization) </a:t>
            </a:r>
            <a:r>
              <a:rPr lang="ru-RU" dirty="0"/>
              <a:t>включает индивидуального и корпоративного клиентов </a:t>
            </a:r>
            <a:r>
              <a:rPr lang="ru-RU" dirty="0" err="1"/>
              <a:t>некоторои</a:t>
            </a:r>
            <a:r>
              <a:rPr lang="ru-RU" dirty="0"/>
              <a:t>̆ бизнес-системы. Несмотря на определенные различия, у них много общего. Одинаковые </a:t>
            </a:r>
            <a:r>
              <a:rPr lang="ru-RU" dirty="0" err="1"/>
              <a:t>свойства</a:t>
            </a:r>
            <a:r>
              <a:rPr lang="ru-RU" dirty="0"/>
              <a:t> можно поместить в </a:t>
            </a:r>
            <a:r>
              <a:rPr lang="ru-RU" dirty="0" err="1"/>
              <a:t>базовыи</a:t>
            </a:r>
            <a:r>
              <a:rPr lang="ru-RU" dirty="0"/>
              <a:t>̆ класс </a:t>
            </a:r>
            <a:r>
              <a:rPr lang="en-US" b="1" dirty="0"/>
              <a:t>Customer </a:t>
            </a:r>
            <a:r>
              <a:rPr lang="en-US" dirty="0"/>
              <a:t>(</a:t>
            </a:r>
            <a:r>
              <a:rPr lang="ru-RU" dirty="0"/>
              <a:t>Клиент, </a:t>
            </a:r>
            <a:r>
              <a:rPr lang="ru-RU" dirty="0" err="1"/>
              <a:t>супертип</a:t>
            </a:r>
            <a:r>
              <a:rPr lang="ru-RU" dirty="0"/>
              <a:t>), при этом класс </a:t>
            </a:r>
            <a:r>
              <a:rPr lang="en-US" b="1" dirty="0"/>
              <a:t>Personal Customer </a:t>
            </a:r>
            <a:r>
              <a:rPr lang="en-US" dirty="0"/>
              <a:t>(</a:t>
            </a:r>
            <a:r>
              <a:rPr lang="ru-RU" dirty="0" err="1"/>
              <a:t>Индивидуальныи</a:t>
            </a:r>
            <a:r>
              <a:rPr lang="ru-RU" dirty="0"/>
              <a:t>̆ клиент) и класс </a:t>
            </a:r>
            <a:r>
              <a:rPr lang="en-US" b="1" dirty="0"/>
              <a:t>Corporate Customer </a:t>
            </a:r>
            <a:r>
              <a:rPr lang="en-US" dirty="0"/>
              <a:t>(</a:t>
            </a:r>
            <a:r>
              <a:rPr lang="ru-RU" dirty="0" err="1"/>
              <a:t>Корпоративныи</a:t>
            </a:r>
            <a:r>
              <a:rPr lang="ru-RU" dirty="0"/>
              <a:t>̆ клиент) будут выступать как подтипы. </a:t>
            </a:r>
          </a:p>
          <a:p>
            <a:r>
              <a:rPr lang="ru-RU" dirty="0" err="1"/>
              <a:t>Корпоративныи</a:t>
            </a:r>
            <a:r>
              <a:rPr lang="ru-RU" dirty="0"/>
              <a:t>̆ клиент представляет </a:t>
            </a:r>
            <a:r>
              <a:rPr lang="ru-RU" dirty="0" err="1"/>
              <a:t>собои</a:t>
            </a:r>
            <a:r>
              <a:rPr lang="ru-RU" dirty="0"/>
              <a:t>̆ частную разновидность класса Клиент. Основная идея заключается в следующем: все, что нам известно о классе Клиент (ассоциации, атрибуты, операции), справедливо также и для класса </a:t>
            </a:r>
            <a:r>
              <a:rPr lang="ru-RU" dirty="0" err="1"/>
              <a:t>Корпоративныи</a:t>
            </a:r>
            <a:r>
              <a:rPr lang="ru-RU" dirty="0"/>
              <a:t>̆ клиент. </a:t>
            </a:r>
          </a:p>
          <a:p>
            <a:r>
              <a:rPr lang="ru-RU" dirty="0"/>
              <a:t>Вследствие полиморфизма </a:t>
            </a:r>
            <a:r>
              <a:rPr lang="ru-RU" dirty="0" err="1"/>
              <a:t>Корпоративныи</a:t>
            </a:r>
            <a:r>
              <a:rPr lang="ru-RU" dirty="0"/>
              <a:t>̆ клиент может реагировать на определенные команды не так, как </a:t>
            </a:r>
            <a:r>
              <a:rPr lang="ru-RU" dirty="0" err="1"/>
              <a:t>другои</a:t>
            </a:r>
            <a:r>
              <a:rPr lang="ru-RU" dirty="0"/>
              <a:t>̆ Клиент, но </a:t>
            </a:r>
            <a:r>
              <a:rPr lang="ru-RU" dirty="0" err="1"/>
              <a:t>вызывающии</a:t>
            </a:r>
            <a:r>
              <a:rPr lang="ru-RU" dirty="0"/>
              <a:t>̆ не должен беспокоиться об этом отличии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7084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ECCF3-2C98-B54A-AB74-9C43C3806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и композиция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3BAD4-08E6-A543-B78F-A536A2B2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Рассмотрим два частных случая ассоциации - </a:t>
            </a:r>
            <a:r>
              <a:rPr lang="ru-RU" b="1" dirty="0"/>
              <a:t>агрегацию и композицию</a:t>
            </a:r>
            <a:r>
              <a:rPr lang="ru-RU" dirty="0"/>
              <a:t>, которые представляют собой отношения типа “часть-целое”.</a:t>
            </a:r>
          </a:p>
          <a:p>
            <a:r>
              <a:rPr lang="ru-RU" b="1" dirty="0"/>
              <a:t>Агрегация </a:t>
            </a:r>
            <a:r>
              <a:rPr lang="ru-RU" dirty="0"/>
              <a:t>(</a:t>
            </a:r>
            <a:r>
              <a:rPr lang="en-US" dirty="0"/>
              <a:t>aggregation) – </a:t>
            </a:r>
            <a:r>
              <a:rPr lang="ru-RU" dirty="0"/>
              <a:t>это отношение типа «часть целого». Точно так же можно сказать, что двигатель и колеса представляют </a:t>
            </a:r>
            <a:r>
              <a:rPr lang="ru-RU" dirty="0" err="1"/>
              <a:t>собои</a:t>
            </a:r>
            <a:r>
              <a:rPr lang="ru-RU" dirty="0"/>
              <a:t>̆ части автомобиля</a:t>
            </a:r>
          </a:p>
          <a:p>
            <a:r>
              <a:rPr lang="ru-RU" b="1" dirty="0"/>
              <a:t>Композиция</a:t>
            </a:r>
            <a:r>
              <a:rPr lang="ru-RU" dirty="0"/>
              <a:t> (</a:t>
            </a:r>
            <a:r>
              <a:rPr lang="en-US" dirty="0"/>
              <a:t>composition) </a:t>
            </a:r>
            <a:r>
              <a:rPr lang="ru-RU" dirty="0"/>
              <a:t>– более строгий вариант агрегации с четко выраженными отношениями владения и совпадением времени жизни частей и целого. Композиция имеет жёсткую зависимость времени существования экземпляров класса контейнера и экземпляров содержащихся классов. Если контейнер будет уничтожен, то всё его содержимое будет также уничтожено (если удаляется многоугольник (</a:t>
            </a:r>
            <a:r>
              <a:rPr lang="en-US" dirty="0"/>
              <a:t>Polygon), </a:t>
            </a:r>
            <a:r>
              <a:rPr lang="ru-RU" dirty="0"/>
              <a:t>то автоматически должны удалиться все точки (</a:t>
            </a:r>
            <a:r>
              <a:rPr lang="en-US" dirty="0"/>
              <a:t>Points), </a:t>
            </a:r>
            <a:r>
              <a:rPr lang="ru-RU" dirty="0"/>
              <a:t>которыми он владеет.)</a:t>
            </a:r>
          </a:p>
          <a:p>
            <a:r>
              <a:rPr lang="ru-RU" dirty="0"/>
              <a:t>Обычно считается, что любое удаление целого </a:t>
            </a:r>
            <a:r>
              <a:rPr lang="ru-RU" dirty="0" err="1"/>
              <a:t>каскадно</a:t>
            </a:r>
            <a:r>
              <a:rPr lang="ru-RU" dirty="0"/>
              <a:t> к частям (каскадное удаление).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C2678B-DCE3-ED4C-B493-3F5946453B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901" y="792957"/>
            <a:ext cx="4762500" cy="965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290857-A4DE-7C43-8DC7-B48E3CE99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201" y="5867400"/>
            <a:ext cx="6680200" cy="88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44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5" name="Picture 1" descr="page104image39894336">
            <a:extLst>
              <a:ext uri="{FF2B5EF4-FFF2-40B4-BE49-F238E27FC236}">
                <a16:creationId xmlns:a16="http://schemas.microsoft.com/office/drawing/2014/main" id="{0D1ACE64-1426-6745-B595-B09056031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199" y="87477"/>
            <a:ext cx="7543801" cy="677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3F7C7AF-C4E7-C045-A8CA-AFF3B7FB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Абстрактные классы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FBD4D-2A1A-904D-A230-4A670728C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825625"/>
            <a:ext cx="5057775" cy="4718050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 err="1"/>
              <a:t>Абстрактныи</a:t>
            </a:r>
            <a:r>
              <a:rPr lang="ru-RU" b="1" dirty="0"/>
              <a:t>̆ класс </a:t>
            </a:r>
            <a:r>
              <a:rPr lang="ru-RU" dirty="0"/>
              <a:t>(</a:t>
            </a:r>
            <a:r>
              <a:rPr lang="en-US" dirty="0"/>
              <a:t>abstract class) – </a:t>
            </a:r>
            <a:r>
              <a:rPr lang="ru-RU" dirty="0"/>
              <a:t>это класс, </a:t>
            </a:r>
            <a:r>
              <a:rPr lang="ru-RU" dirty="0" err="1"/>
              <a:t>которыи</a:t>
            </a:r>
            <a:r>
              <a:rPr lang="ru-RU" dirty="0"/>
              <a:t>̆ нельзя реализовать непосредственно. Вместо этого создается экземпляр подкласса. </a:t>
            </a:r>
          </a:p>
          <a:p>
            <a:r>
              <a:rPr lang="ru-RU" dirty="0"/>
              <a:t>Обычно </a:t>
            </a:r>
            <a:r>
              <a:rPr lang="ru-RU" dirty="0" err="1"/>
              <a:t>абстрактныи</a:t>
            </a:r>
            <a:r>
              <a:rPr lang="ru-RU" dirty="0"/>
              <a:t>̆ класс имеет одну или более абстрактных операций.</a:t>
            </a:r>
          </a:p>
          <a:p>
            <a:r>
              <a:rPr lang="ru-RU" dirty="0"/>
              <a:t>У </a:t>
            </a:r>
            <a:r>
              <a:rPr lang="ru-RU" b="1" dirty="0" err="1"/>
              <a:t>абстрактнои</a:t>
            </a:r>
            <a:r>
              <a:rPr lang="ru-RU" b="1" dirty="0"/>
              <a:t>̆ операции </a:t>
            </a:r>
            <a:r>
              <a:rPr lang="ru-RU" dirty="0"/>
              <a:t>(</a:t>
            </a:r>
            <a:r>
              <a:rPr lang="en-US" dirty="0"/>
              <a:t>abstract operation) </a:t>
            </a:r>
            <a:r>
              <a:rPr lang="ru-RU" dirty="0"/>
              <a:t>нет реализации; это чистое объявление, которое клиенты могут привязать к абстрактному классу.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015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007A5-0241-404B-9CCD-0AA8D842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0A126-2EB8-7545-9EF8-F2F9EF406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76812" cy="4389438"/>
          </a:xfrm>
        </p:spPr>
        <p:txBody>
          <a:bodyPr>
            <a:normAutofit fontScale="92500"/>
          </a:bodyPr>
          <a:lstStyle/>
          <a:p>
            <a:r>
              <a:rPr lang="ru-RU" dirty="0" err="1"/>
              <a:t>Интерфейс</a:t>
            </a:r>
            <a:r>
              <a:rPr lang="ru-RU" dirty="0"/>
              <a:t> – это класс, не </a:t>
            </a:r>
            <a:r>
              <a:rPr lang="ru-RU" dirty="0" err="1"/>
              <a:t>имеющии</a:t>
            </a:r>
            <a:r>
              <a:rPr lang="ru-RU" dirty="0"/>
              <a:t>̆ реализации, то есть вся его функциональность абстрактна. </a:t>
            </a:r>
          </a:p>
          <a:p>
            <a:r>
              <a:rPr lang="ru-RU" dirty="0" err="1"/>
              <a:t>Интерфейсы</a:t>
            </a:r>
            <a:r>
              <a:rPr lang="ru-RU" dirty="0"/>
              <a:t> прямо соответствуют </a:t>
            </a:r>
            <a:r>
              <a:rPr lang="ru-RU" dirty="0" err="1"/>
              <a:t>интерфейсам</a:t>
            </a:r>
            <a:r>
              <a:rPr lang="ru-RU" dirty="0"/>
              <a:t> в </a:t>
            </a:r>
            <a:r>
              <a:rPr lang="en-US" dirty="0"/>
              <a:t>C# </a:t>
            </a:r>
            <a:r>
              <a:rPr lang="ru-RU" dirty="0"/>
              <a:t>и </a:t>
            </a:r>
            <a:r>
              <a:rPr lang="en-US" dirty="0"/>
              <a:t>Java </a:t>
            </a:r>
            <a:r>
              <a:rPr lang="ru-RU" dirty="0"/>
              <a:t>и являются </a:t>
            </a:r>
            <a:r>
              <a:rPr lang="ru-RU" dirty="0" err="1"/>
              <a:t>общеи</a:t>
            </a:r>
            <a:r>
              <a:rPr lang="ru-RU" dirty="0"/>
              <a:t>̆ </a:t>
            </a:r>
            <a:r>
              <a:rPr lang="ru-RU" dirty="0" err="1"/>
              <a:t>идиомои</a:t>
            </a:r>
            <a:r>
              <a:rPr lang="ru-RU" dirty="0"/>
              <a:t>̆ в других типизированных языках. </a:t>
            </a:r>
          </a:p>
          <a:p>
            <a:r>
              <a:rPr lang="ru-RU" dirty="0" err="1"/>
              <a:t>Интерфейс</a:t>
            </a:r>
            <a:r>
              <a:rPr lang="ru-RU" dirty="0"/>
              <a:t> обозначается ключевым словом </a:t>
            </a:r>
            <a:r>
              <a:rPr lang="ru-RU" b="1" dirty="0"/>
              <a:t>«</a:t>
            </a:r>
            <a:r>
              <a:rPr lang="en-US" b="1" dirty="0"/>
              <a:t>interface»</a:t>
            </a:r>
            <a:r>
              <a:rPr lang="en-US" dirty="0"/>
              <a:t>. 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7CBEF2-41F0-A348-AFAF-BEC8C30922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37" t="2583" r="16610" b="2507"/>
          <a:stretch/>
        </p:blipFill>
        <p:spPr>
          <a:xfrm>
            <a:off x="5815012" y="1105678"/>
            <a:ext cx="6096001" cy="479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76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D7D82-5F38-874D-813F-C337382E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Перечисления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79837-4500-1A4E-8A59-F84E32116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Перечисления используются для представления фиксированного набора значений, у которых нет других </a:t>
            </a:r>
            <a:r>
              <a:rPr lang="ru-RU" dirty="0" err="1"/>
              <a:t>свойств</a:t>
            </a:r>
            <a:r>
              <a:rPr lang="ru-RU" dirty="0"/>
              <a:t> кроме их символических значений. </a:t>
            </a:r>
          </a:p>
          <a:p>
            <a:r>
              <a:rPr lang="ru-RU" dirty="0"/>
              <a:t>Они изображаются в виде класса с ключевым словом </a:t>
            </a:r>
            <a:r>
              <a:rPr lang="ru-RU" b="1" dirty="0"/>
              <a:t>«</a:t>
            </a:r>
            <a:r>
              <a:rPr lang="en-US" b="1" dirty="0"/>
              <a:t>enumeration»</a:t>
            </a:r>
            <a:r>
              <a:rPr lang="en-US" dirty="0"/>
              <a:t>. </a:t>
            </a:r>
          </a:p>
          <a:p>
            <a:endParaRPr lang="ru-R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6964B-FEF4-A448-9D7E-AF7BD084F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819" y="3533276"/>
            <a:ext cx="2896362" cy="2778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3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C94E8-6AE7-BB4A-A485-24A0AD0C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91993-14B6-2D43-A34A-4B3A2DC54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Создать диаграмму классов для системы заказов.</a:t>
            </a:r>
          </a:p>
          <a:p>
            <a:r>
              <a:rPr lang="ru-RU" dirty="0"/>
              <a:t>Описание системы:</a:t>
            </a:r>
          </a:p>
          <a:p>
            <a:pPr lvl="1"/>
            <a:r>
              <a:rPr lang="ru-RU" dirty="0"/>
              <a:t>Клиент (с информацией об имени, адресе доставки и его активности) может создать заказ</a:t>
            </a:r>
          </a:p>
          <a:p>
            <a:pPr lvl="1"/>
            <a:r>
              <a:rPr lang="ru-RU" dirty="0"/>
              <a:t>Заказ включает в себя несколько товаров (с информацией о весе, стоимости и подробным описанием) с указанием количества и налоговой ставки</a:t>
            </a:r>
          </a:p>
          <a:p>
            <a:pPr lvl="1"/>
            <a:r>
              <a:rPr lang="ru-RU" dirty="0"/>
              <a:t>Для заказа необходимо иметь возможность посчитать общий вес и сумму</a:t>
            </a:r>
          </a:p>
          <a:p>
            <a:pPr lvl="1"/>
            <a:r>
              <a:rPr lang="ru-RU" dirty="0"/>
              <a:t>Оплата заказа может быть произведена несколькими способами: кредитной картой, наличными, чеком или банковским переводом</a:t>
            </a:r>
          </a:p>
          <a:p>
            <a:pPr lvl="1"/>
            <a:r>
              <a:rPr lang="ru-RU" dirty="0"/>
              <a:t>Статус заказа может принимать одно из четырех значений: Создан, Собран, Доставлен, Оплачен</a:t>
            </a:r>
          </a:p>
        </p:txBody>
      </p:sp>
    </p:spTree>
    <p:extLst>
      <p:ext uri="{BB962C8B-B14F-4D97-AF65-F5344CB8AC3E}">
        <p14:creationId xmlns:p14="http://schemas.microsoft.com/office/powerpoint/2010/main" val="3536364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938</Words>
  <Application>Microsoft Office PowerPoint</Application>
  <PresentationFormat>Широкоэкранный</PresentationFormat>
  <Paragraphs>74</Paragraphs>
  <Slides>16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Диаграмма классов</vt:lpstr>
      <vt:lpstr>Диаграмма классов</vt:lpstr>
      <vt:lpstr>Презентация PowerPoint</vt:lpstr>
      <vt:lpstr>Классы</vt:lpstr>
      <vt:lpstr>Атрибуты</vt:lpstr>
      <vt:lpstr>Атрибуты</vt:lpstr>
      <vt:lpstr>Операции </vt:lpstr>
      <vt:lpstr>Операции </vt:lpstr>
      <vt:lpstr>Ассоциации</vt:lpstr>
      <vt:lpstr>Ассоциации  - Кратность</vt:lpstr>
      <vt:lpstr>Обобщение</vt:lpstr>
      <vt:lpstr>Агрегация и композиция</vt:lpstr>
      <vt:lpstr>Абстрактные классы</vt:lpstr>
      <vt:lpstr>Интерфейсы</vt:lpstr>
      <vt:lpstr>Перечисления</vt:lpstr>
      <vt:lpstr>ПРАКТИКА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Диаграмма классов</dc:title>
  <dc:creator>uzer</dc:creator>
  <cp:lastModifiedBy>uzer</cp:lastModifiedBy>
  <cp:revision>5</cp:revision>
  <dcterms:created xsi:type="dcterms:W3CDTF">2022-01-14T06:45:58Z</dcterms:created>
  <dcterms:modified xsi:type="dcterms:W3CDTF">2022-01-17T08:38:33Z</dcterms:modified>
</cp:coreProperties>
</file>